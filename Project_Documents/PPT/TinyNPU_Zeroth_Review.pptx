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2042648" cy="162763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1609344"/>
            <a:ext cx="12042648" cy="54864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SAVEETHA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CF0"/>
                </a:solidFill>
                <a:latin typeface="Calibri"/>
              </a:rPr>
              <a:t>Department of Electronics &amp; Communication Engineering  |  Affiliated to Anna University | Approved by AICTE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A8D4"/>
                </a:solidFill>
                <a:latin typeface="Calibri"/>
              </a:rPr>
              <a:t>19EC702  -  Project Work Phase I  |  Zeroth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21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B275C"/>
                </a:solidFill>
                <a:latin typeface="Calibri Light"/>
              </a:rPr>
              <a:t>TinyNPU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880360"/>
            <a:ext cx="9445752" cy="36576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4436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5CA8"/>
                </a:solidFill>
                <a:latin typeface="Calibri"/>
              </a:rPr>
              <a:t>A Sensor-Aware Reconfigurable AI Accelerator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64992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5CA8"/>
                </a:solidFill>
                <a:latin typeface="Calibri"/>
              </a:rPr>
              <a:t>for Ultra-High-Speed Ballistic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05072"/>
            <a:ext cx="3200400" cy="841248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342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PYNQ-Z2  (Zynq-7020)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005072"/>
            <a:ext cx="3200400" cy="841248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342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AI Hardware / VLSI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05072"/>
            <a:ext cx="3200400" cy="841248"/>
          </a:xfrm>
          <a:prstGeom prst="round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3342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Python  PYNQ API  +  DMA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1023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6282"/>
                </a:solidFill>
                <a:latin typeface="Calibri"/>
              </a:rPr>
              <a:t>Review Date: 05 August 2026   |   Time: 1:00 PM - 3:00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449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6282"/>
                </a:solidFill>
                <a:latin typeface="Calibri"/>
              </a:rPr>
              <a:t>Panel Members: Dr. Srigitha S. Nath, Dr. M. Selvi, Dr. S. Praveen Kumar &amp;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" y="6565392"/>
            <a:ext cx="12042648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Problem Identification &amp;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2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2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25880"/>
            <a:ext cx="5596128" cy="242316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25880"/>
            <a:ext cx="5596128" cy="36576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5376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  The Core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5376672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Standard pipelines transfer raw pixels to CPU/GPU over PCIe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PCIe bottleneck + OS scheduling = 5 to 50 ms latency overhead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Ballistic threats travel &gt; 300 m/s  -  every millisecond is critical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Total sensor-to-decision budget: &lt; 500 microseconds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No existing solution co-locates sensor stream + CNN inference on-chip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3895344"/>
            <a:ext cx="5596128" cy="245059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895344"/>
            <a:ext cx="5596128" cy="36576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41063"/>
            <a:ext cx="5376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  Why Standard Solutions Fall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15968"/>
            <a:ext cx="5376672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GPU: High throughput but highly non-deterministic latency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CPU: Too slow for real-time inference on live pixel streams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Cloud NPU / TPU: High-bandwidth PCIe or network still required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Edge MCUs: Insufficient compute for multi-layer CNN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325880"/>
            <a:ext cx="5943600" cy="242316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325880"/>
            <a:ext cx="5943600" cy="36576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371600"/>
            <a:ext cx="5724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  Real-World 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1746504"/>
            <a:ext cx="5724144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Aerospace: Intercept micro-projectiles in &lt; 1 ms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Automotive: Sub-1 ms collision hazard detection at high speed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Industrial: High-speed conveyor object sorting at &gt; 100 fps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Defense: Counter-drone and ballistic tracking systems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Medical: High-speed surgical instrument real-time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895344"/>
            <a:ext cx="5943600" cy="245059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895344"/>
            <a:ext cx="5943600" cy="365760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941063"/>
            <a:ext cx="5724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  TinyNPU - Proposed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4315968"/>
            <a:ext cx="5724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Near-sensor coprocessor on PYNQ-Z2 (Zynq-7020) board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Python PYNQ API feeds sensor data via AXI4-Stream DMA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- 8x8 Weight-Stationary Systolic Array: 64 MACs per cycle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INT8 quantized CNN layers: low memory and low power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0F1A35"/>
                </a:solidFill>
                <a:latin typeface="Calibri"/>
              </a:rPr>
              <a:t> - Target: single-digit microsecond end-to-end inference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Objectives &amp;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3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3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53312"/>
            <a:ext cx="5687568" cy="1993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53312"/>
            <a:ext cx="877824" cy="199339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011680"/>
            <a:ext cx="8046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444752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CA8"/>
                </a:solidFill>
                <a:latin typeface="Calibri"/>
              </a:rPr>
              <a:t>Ultra-Low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3856" y="1938528"/>
            <a:ext cx="4700016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2011680"/>
            <a:ext cx="462686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A35"/>
                </a:solidFill>
                <a:latin typeface="Calibri"/>
              </a:rPr>
              <a:t>Achieve single-digit microsecond inference
for Conv and Fully Connected layers on PYNQ-Z2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53312"/>
            <a:ext cx="5687568" cy="1993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53312"/>
            <a:ext cx="877824" cy="199339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11680"/>
            <a:ext cx="8046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1444752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75C"/>
                </a:solidFill>
                <a:latin typeface="Calibri"/>
              </a:rPr>
              <a:t>Deterministic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1938528"/>
            <a:ext cx="4700016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2011680"/>
            <a:ext cx="462686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A35"/>
                </a:solidFill>
                <a:latin typeface="Calibri"/>
              </a:rPr>
              <a:t>No caches or branch predictors - ensure
strict cycle-level timing on FPGA fabric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" y="3529584"/>
            <a:ext cx="5687568" cy="1993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529584"/>
            <a:ext cx="877824" cy="1993392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4187952"/>
            <a:ext cx="8046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621024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C1F"/>
                </a:solidFill>
                <a:latin typeface="Calibri"/>
              </a:rPr>
              <a:t>Resource Efficiency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" y="4114800"/>
            <a:ext cx="4700016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4187952"/>
            <a:ext cx="462686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A35"/>
                </a:solidFill>
                <a:latin typeface="Calibri"/>
              </a:rPr>
              <a:t>Maximize Zynq-7020 DSP48E1 and BRAM
utilization within tight FPGA resource budget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29584"/>
            <a:ext cx="5687568" cy="1993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29584"/>
            <a:ext cx="877824" cy="1993392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4187952"/>
            <a:ext cx="8046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3621024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8F55"/>
                </a:solidFill>
                <a:latin typeface="Calibri"/>
              </a:rPr>
              <a:t>ASIC Migration Readiness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4114800"/>
            <a:ext cx="4700016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5472" y="4187952"/>
            <a:ext cx="462686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A35"/>
                </a:solidFill>
                <a:latin typeface="Calibri"/>
              </a:rPr>
              <a:t>100% vendor-neutral synthesizable Verilog
RTL portable to any silicon process node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394960"/>
            <a:ext cx="11676888" cy="329184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4223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EXPECTED OUTCOMES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" y="5797296"/>
            <a:ext cx="2194560" cy="640080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5870448"/>
            <a:ext cx="2029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25.6 GOPS @ 200 MHz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87752" y="5797296"/>
            <a:ext cx="2194560" cy="640080"/>
          </a:xfrm>
          <a:prstGeom prst="round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5870448"/>
            <a:ext cx="2029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&lt; 10 us inference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19472" y="5797296"/>
            <a:ext cx="2194560" cy="640080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5870448"/>
            <a:ext cx="2029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INT8 / INT32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1192" y="5797296"/>
            <a:ext cx="2194560" cy="640080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1" y="5870448"/>
            <a:ext cx="2029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AXI4 Interfaces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2911" y="5797296"/>
            <a:ext cx="2194560" cy="640080"/>
          </a:xfrm>
          <a:prstGeom prst="round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74351" y="5870448"/>
            <a:ext cx="2029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Python + FPGA Integrated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PYNQ-Z2 Hardware Platform &amp; Python Data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4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4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16736"/>
            <a:ext cx="3840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16736"/>
            <a:ext cx="3840480" cy="38404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4416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  PYNQ-Z2 Board Specs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1828800"/>
            <a:ext cx="3749039" cy="420624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0195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1901952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Xilinx Zynq-7020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2267712"/>
            <a:ext cx="37490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4086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FPGA 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340864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Artix-7  28nm PL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" y="2706624"/>
            <a:ext cx="3749039" cy="420624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7977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Processor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779776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Dual ARM Cortex-A9 @ 667 MHz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3145536"/>
            <a:ext cx="37490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21868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DSPs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3218688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220 x DSP48E1 Slices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" y="3584448"/>
            <a:ext cx="3749039" cy="420624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6576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BRAM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3657600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140 x 36Kb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" y="4023360"/>
            <a:ext cx="37490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0965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LUTs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096512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53,200 Look-Up Tables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" y="4462272"/>
            <a:ext cx="3749039" cy="420624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53542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9072" y="4535424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512 MB DDR3 SDRAM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" y="4901183"/>
            <a:ext cx="37490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7433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Camera I/O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072" y="4974336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USB UVC Camera (OpenCV)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" y="5340096"/>
            <a:ext cx="3749039" cy="420624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4132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5413248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Linux + Jupyter Notebook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" y="5779008"/>
            <a:ext cx="37490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8521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5852160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PYNQ 3.x Overlay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9392" y="1316736"/>
            <a:ext cx="4041648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9392" y="1316736"/>
            <a:ext cx="4041648" cy="38404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1344168"/>
            <a:ext cx="3858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  Python Sensor Data Pipeline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07408" y="1828800"/>
            <a:ext cx="3785615" cy="80467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07408" y="1828800"/>
            <a:ext cx="329184" cy="804672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07408" y="2075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1456" y="1865376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8F55"/>
                </a:solidFill>
                <a:latin typeface="Calibri"/>
              </a:rPr>
              <a:t>Step 1 - Load Overlay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91456" y="215798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6282"/>
                </a:solidFill>
                <a:latin typeface="Courier New"/>
              </a:rPr>
              <a:t>from pynq import Overlay
ol = Overlay('tinynpu.bit')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300216" y="2633472"/>
            <a:ext cx="0" cy="91440"/>
          </a:xfrm>
          <a:prstGeom prst="line">
            <a:avLst/>
          </a:prstGeom>
          <a:ln w="22860">
            <a:solidFill>
              <a:srgbClr val="148F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407408" y="2724912"/>
            <a:ext cx="3785615" cy="80467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07408" y="2724912"/>
            <a:ext cx="329184" cy="80467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7408" y="297180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6" y="2761488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Step 2 - Init DMA + Camera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1456" y="3054096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6282"/>
                </a:solidFill>
                <a:latin typeface="Courier New"/>
              </a:rPr>
              <a:t>dma = ol.axi_dma
cam = cv2.VideoCapture(0)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00216" y="3529584"/>
            <a:ext cx="0" cy="91440"/>
          </a:xfrm>
          <a:prstGeom prst="line">
            <a:avLst/>
          </a:prstGeom>
          <a:ln w="22860">
            <a:solidFill>
              <a:srgbClr val="005C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07408" y="3621024"/>
            <a:ext cx="3785615" cy="80467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07408" y="3621024"/>
            <a:ext cx="329184" cy="804672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7408" y="38679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91456" y="3657600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7C1F"/>
                </a:solidFill>
                <a:latin typeface="Calibri"/>
              </a:rPr>
              <a:t>Step 3 - Capture &amp; Quantize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91456" y="3950208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6282"/>
                </a:solidFill>
                <a:latin typeface="Courier New"/>
              </a:rPr>
              <a:t>_, frame = cam.read()
quant = quant_int8(frame, scale)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300216" y="4425696"/>
            <a:ext cx="0" cy="91440"/>
          </a:xfrm>
          <a:prstGeom prst="line">
            <a:avLst/>
          </a:prstGeom>
          <a:ln w="22860">
            <a:solidFill>
              <a:srgbClr val="F47C1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407408" y="4517136"/>
            <a:ext cx="3785615" cy="80467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07408" y="4517136"/>
            <a:ext cx="329184" cy="804672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07408" y="476402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553712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73AB7"/>
                </a:solidFill>
                <a:latin typeface="Calibri"/>
              </a:rPr>
              <a:t>Step 4 - Allocate &amp; DMA Send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91456" y="4846320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6282"/>
                </a:solidFill>
                <a:latin typeface="Courier New"/>
              </a:rPr>
              <a:t>ibuf = allocate((H,W), 'i1')
ibuf[:] = quant
dma.sendchannel.transfer(ibuf)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300216" y="5321807"/>
            <a:ext cx="0" cy="91441"/>
          </a:xfrm>
          <a:prstGeom prst="line">
            <a:avLst/>
          </a:prstGeom>
          <a:ln w="22860">
            <a:solidFill>
              <a:srgbClr val="673AB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4407408" y="5413248"/>
            <a:ext cx="3785615" cy="804672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07408" y="5413248"/>
            <a:ext cx="329184" cy="804672"/>
          </a:xfrm>
          <a:prstGeom prst="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07408" y="56601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449824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D4"/>
                </a:solidFill>
                <a:latin typeface="Calibri"/>
              </a:rPr>
              <a:t>Step 5 - Trigger &amp; Read Back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91456" y="5742432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6282"/>
                </a:solidFill>
                <a:latin typeface="Courier New"/>
              </a:rPr>
              <a:t>dma.sendchannel.wait()
dma.recvchannel.transfer(obuf)
result = np.array(obuf)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03920" y="1316736"/>
            <a:ext cx="345643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03920" y="1316736"/>
            <a:ext cx="3456432" cy="384048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13648" y="1344168"/>
            <a:ext cx="3273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  Zynq PS-PL Integration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50224" y="1828800"/>
            <a:ext cx="3145536" cy="1572768"/>
          </a:xfrm>
          <a:prstGeom prst="rect">
            <a:avLst/>
          </a:prstGeom>
          <a:solidFill>
            <a:srgbClr val="E5F6EE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41664" y="1874519"/>
            <a:ext cx="298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8F55"/>
                </a:solidFill>
                <a:latin typeface="Calibri"/>
              </a:rPr>
              <a:t>PROCESSING SYSTEM (PS)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41664" y="2176272"/>
            <a:ext cx="298094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ARM Cortex-A9 Dual-Core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Linux OS  +  PYNQ 3.x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Python / Jupyter Frontend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- 512 MB DDR3 Buffer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232136" y="3401568"/>
            <a:ext cx="0" cy="256032"/>
          </a:xfrm>
          <a:prstGeom prst="line">
            <a:avLst/>
          </a:prstGeom>
          <a:ln w="31750">
            <a:solidFill>
              <a:srgbClr val="0B275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259568" y="34107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5CA8"/>
                </a:solidFill>
                <a:latin typeface="Calibri"/>
              </a:rPr>
              <a:t>AXI4-S DMA + HP0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50224" y="3657600"/>
            <a:ext cx="3145536" cy="2057400"/>
          </a:xfrm>
          <a:prstGeom prst="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41664" y="3703320"/>
            <a:ext cx="298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CA8"/>
                </a:solidFill>
                <a:latin typeface="Calibri"/>
              </a:rPr>
              <a:t>PROGRAMMABLE LOGIC (PL)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41664" y="4023360"/>
            <a:ext cx="298094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TinyNPU Overlay (.bit file)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- 8x8 Systolic MAC Grid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AXI4-Lite CSR Register File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AXI4-Stream Sink + Source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Requant + ReLU + Pooling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Proposed Methodology  -  TinyNPU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5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5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25880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25880"/>
            <a:ext cx="749808" cy="749808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508760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138988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8F55"/>
                </a:solidFill>
                <a:latin typeface="Calibri"/>
              </a:rPr>
              <a:t>Camera / Sensor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170992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USB UVC Camera captured via OpenCV on 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16352" y="2075688"/>
            <a:ext cx="0" cy="475488"/>
          </a:xfrm>
          <a:prstGeom prst="line">
            <a:avLst/>
          </a:prstGeom>
          <a:ln w="31750">
            <a:solidFill>
              <a:srgbClr val="148F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21214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48F55"/>
                </a:solidFill>
                <a:latin typeface="Calibri"/>
              </a:rPr>
              <a:t>Pixel Frames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2551176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551176"/>
            <a:ext cx="749808" cy="749808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734056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2615184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7C1F"/>
                </a:solidFill>
                <a:latin typeface="Calibri"/>
              </a:rPr>
              <a:t>Python PYNQ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2935224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Overlay load, INT8 quantise, allocate DMA buffer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16352" y="3300984"/>
            <a:ext cx="0" cy="475488"/>
          </a:xfrm>
          <a:prstGeom prst="line">
            <a:avLst/>
          </a:prstGeom>
          <a:ln w="31750">
            <a:solidFill>
              <a:srgbClr val="F47C1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26080" y="33467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7C1F"/>
                </a:solidFill>
                <a:latin typeface="Calibri"/>
              </a:rPr>
              <a:t>INT8 Buffer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" y="3776472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776472"/>
            <a:ext cx="749808" cy="7498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959352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3840480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5CA8"/>
                </a:solidFill>
                <a:latin typeface="Calibri"/>
              </a:rPr>
              <a:t>AXI4-Stream DMA 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4160520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HP0 high-perf port  -  frame sent to FPGA PL fabric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16352" y="4526280"/>
            <a:ext cx="0" cy="475488"/>
          </a:xfrm>
          <a:prstGeom prst="line">
            <a:avLst/>
          </a:prstGeom>
          <a:ln w="31750">
            <a:solidFill>
              <a:srgbClr val="005C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26080" y="4572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5CA8"/>
                </a:solidFill>
                <a:latin typeface="Calibri"/>
              </a:rPr>
              <a:t>DMA Burst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5001768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5001768"/>
            <a:ext cx="749808" cy="7498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5184648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065776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B275C"/>
                </a:solidFill>
                <a:latin typeface="Calibri"/>
              </a:rPr>
              <a:t>TinyNPU Systolic 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5385816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8x8 Weight-Stationary Grid  |  64 INT8 MACs / cycle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16352" y="5751576"/>
            <a:ext cx="0" cy="475488"/>
          </a:xfrm>
          <a:prstGeom prst="line">
            <a:avLst/>
          </a:prstGeom>
          <a:ln w="31750">
            <a:solidFill>
              <a:srgbClr val="0B275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26080" y="57972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B275C"/>
                </a:solidFill>
                <a:latin typeface="Calibri"/>
              </a:rPr>
              <a:t>INT32 Psums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" y="6227064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6227064"/>
            <a:ext cx="749808" cy="749808"/>
          </a:xfrm>
          <a:prstGeom prst="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64099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6291072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A8D4"/>
                </a:solidFill>
                <a:latin typeface="Calibri"/>
              </a:rPr>
              <a:t>Post-Processing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" y="6611112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Requant (INT32-&gt;INT8)  +  ReLU  +  2x2 Max Pool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816352" y="6976872"/>
            <a:ext cx="0" cy="475488"/>
          </a:xfrm>
          <a:prstGeom prst="line">
            <a:avLst/>
          </a:prstGeom>
          <a:ln w="31750">
            <a:solidFill>
              <a:srgbClr val="00A8D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6080" y="70225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D4"/>
                </a:solidFill>
                <a:latin typeface="Calibri"/>
              </a:rPr>
              <a:t>INT8 Activations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" y="7452359"/>
            <a:ext cx="5120640" cy="74980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7452359"/>
            <a:ext cx="749808" cy="749808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" y="7635239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" y="7516367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73AB7"/>
                </a:solidFill>
                <a:latin typeface="Calibri"/>
              </a:rPr>
              <a:t>Result Output via AXI4-S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7836407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6282"/>
                </a:solidFill>
                <a:latin typeface="Calibri"/>
              </a:rPr>
              <a:t>DMA recv on PS  |  Python processes prediction result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1316736"/>
            <a:ext cx="6309360" cy="329184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13441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50992" y="1719072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50992" y="1719072"/>
            <a:ext cx="3035808" cy="310896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42431" y="1755648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Weight-Stationary Dataflow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42431" y="2084831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Filter weights stay static in PEs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Activations stream across the grid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Minimises weight read energy cost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1719072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69680" y="1719072"/>
            <a:ext cx="3035808" cy="310896"/>
          </a:xfrm>
          <a:prstGeom prst="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19" y="1755648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Python PYNQ DMA Frontend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2084831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Overlay API loads .bit to FPGA PL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allocate() for contiguous DMA buf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sendchannel.transfer() - zero copy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50992" y="3145536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50992" y="3145536"/>
            <a:ext cx="3035808" cy="310896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42431" y="3182112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Double-Buffered Memory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42431" y="3511296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Ping-pong BRAM banks hide latency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Sensor feeds Bank A while NPU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processes Bank B simultaneously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69680" y="3145536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69680" y="3145536"/>
            <a:ext cx="3035808" cy="31089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19" y="3182112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Fixed-Point Requantisation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19" y="3511296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INT32 -&gt; INT8 via M0 x 2^(-n)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- 3-stage: bias add, scale mul, ASR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Clamp to [-128, 127] at output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50992" y="4572000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50992" y="4572000"/>
            <a:ext cx="3035808" cy="310896"/>
          </a:xfrm>
          <a:prstGeom prst="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42431" y="4608576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Single Clock Domain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42431" y="4937760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All blocks share one system clock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No CDC synchronizers required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Simplifies STA timing closure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69680" y="4572000"/>
            <a:ext cx="3035808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69680" y="4572000"/>
            <a:ext cx="3035808" cy="310896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19" y="4608576"/>
            <a:ext cx="2852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AXI4 Bus Architecture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19" y="4937760"/>
            <a:ext cx="2852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AXI4-Lite: CSR config registers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AXI4-Stream: activation/result I/O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A35"/>
                </a:solidFill>
                <a:latin typeface="Calibri"/>
              </a:rPr>
              <a:t> - AXI4-DMA: weight prefetch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6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6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25880"/>
            <a:ext cx="2651760" cy="868680"/>
          </a:xfrm>
          <a:prstGeom prst="roundRect">
            <a:avLst/>
          </a:prstGeom>
          <a:solidFill>
            <a:srgbClr val="E5F6EE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380744"/>
            <a:ext cx="250545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8F55"/>
                </a:solidFill>
                <a:latin typeface="Calibri"/>
              </a:rPr>
              <a:t>Python PYNQ
Frontend (PS)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812340"/>
            <a:ext cx="2505456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Overlay + DMA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5808" y="1325880"/>
            <a:ext cx="3017520" cy="86868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380744"/>
            <a:ext cx="2871215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275C"/>
                </a:solidFill>
                <a:latin typeface="Calibri"/>
              </a:rPr>
              <a:t>AXI4-Lite Slave
(CSR Registers)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812340"/>
            <a:ext cx="2871215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Config &amp;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25880"/>
            <a:ext cx="2331720" cy="86868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380744"/>
            <a:ext cx="2185415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5CA8"/>
                </a:solidFill>
                <a:latin typeface="Calibri"/>
              </a:rPr>
              <a:t>AXI4-Stream
Sink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812340"/>
            <a:ext cx="2185415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Activation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325880"/>
            <a:ext cx="1755648" cy="868680"/>
          </a:xfrm>
          <a:prstGeom prst="roundRect">
            <a:avLst/>
          </a:prstGeom>
          <a:solidFill>
            <a:srgbClr val="FDF1E5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1380744"/>
            <a:ext cx="1609344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47C1F"/>
                </a:solidFill>
                <a:latin typeface="Calibri"/>
              </a:rPr>
              <a:t>DMA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1812340"/>
            <a:ext cx="1609344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Weight Prefetch
(AXI4 Master)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24744" y="1325880"/>
            <a:ext cx="1463040" cy="86868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97896" y="1380744"/>
            <a:ext cx="131673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8F55"/>
                </a:solidFill>
                <a:latin typeface="Calibri"/>
              </a:rPr>
              <a:t>NPU Controller
FSM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7896" y="1812340"/>
            <a:ext cx="1316736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Load-&gt;Compute-&gt;Drain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2304288"/>
            <a:ext cx="11731752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" y="2340864"/>
            <a:ext cx="2743200" cy="914400"/>
          </a:xfrm>
          <a:prstGeom prst="roundRect">
            <a:avLst/>
          </a:prstGeom>
          <a:solidFill>
            <a:srgbClr val="E5F6EE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395728"/>
            <a:ext cx="25968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Activation Buffer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" y="285292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256x64 Ping-Pong
Dual BRAM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7248" y="2340864"/>
            <a:ext cx="2889504" cy="914400"/>
          </a:xfrm>
          <a:prstGeom prst="roundRect">
            <a:avLst/>
          </a:prstGeom>
          <a:solidFill>
            <a:srgbClr val="E5F6EE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39572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Weight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85292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1024x64 Dual
Port BRAM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2340864"/>
            <a:ext cx="2359152" cy="91440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395728"/>
            <a:ext cx="22128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DW Line Buffer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852928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3x3 Depthwise
Conv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1936" y="2340864"/>
            <a:ext cx="3355848" cy="914400"/>
          </a:xfrm>
          <a:prstGeom prst="roundRect">
            <a:avLst/>
          </a:prstGeom>
          <a:solidFill>
            <a:srgbClr val="FDF1E5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5088" y="2395728"/>
            <a:ext cx="32095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Output Buffer
(FIFO)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852928"/>
            <a:ext cx="32095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Decouples NPU
from host BW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364992"/>
            <a:ext cx="11731752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" y="3419856"/>
            <a:ext cx="6016752" cy="1389888"/>
          </a:xfrm>
          <a:prstGeom prst="roundRect">
            <a:avLst/>
          </a:prstGeom>
          <a:solidFill>
            <a:srgbClr val="E6F1FF"/>
          </a:solidFill>
          <a:ln w="3175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45643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75C"/>
                </a:solidFill>
                <a:latin typeface="Calibri"/>
              </a:rPr>
              <a:t>Systolic Array  -  8x8 MAC Grid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858768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26282"/>
                </a:solidFill>
                <a:latin typeface="Calibri"/>
              </a:rPr>
              <a:t>64 Processing Elements  |  INT8 x INT8 -&gt; INT32  |  Weight-Stationary Dataflow  |  1 MAC / PE / 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224528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26282"/>
                </a:solidFill>
                <a:latin typeface="Calibri"/>
              </a:rPr>
              <a:t>64 DSP48E1 blocks  |  Skewed activation input  |  Deskewed INT32 psum 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419856"/>
            <a:ext cx="1828800" cy="1389888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474720"/>
            <a:ext cx="1682496" cy="77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Requantisation
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4198193"/>
            <a:ext cx="1682496" cy="61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Bias+M0 Scale
+ASR+Clamp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7616" y="3419856"/>
            <a:ext cx="1810512" cy="1389888"/>
          </a:xfrm>
          <a:prstGeom prst="roundRect">
            <a:avLst/>
          </a:prstGeom>
          <a:solidFill>
            <a:srgbClr val="FDF1E5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3474720"/>
            <a:ext cx="1664208" cy="77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Activation
Unit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4198193"/>
            <a:ext cx="1664208" cy="61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ReLU / LeakyReLU
/ Bypass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96144" y="3419856"/>
            <a:ext cx="1691640" cy="1389888"/>
          </a:xfrm>
          <a:prstGeom prst="roundRect">
            <a:avLst/>
          </a:prstGeom>
          <a:solidFill>
            <a:srgbClr val="FDF1E5"/>
          </a:solidFill>
          <a:ln w="19050">
            <a:solidFill>
              <a:srgbClr val="F47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69296" y="3474720"/>
            <a:ext cx="1545336" cy="77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1A35"/>
                </a:solidFill>
                <a:latin typeface="Calibri"/>
              </a:rPr>
              <a:t>Pooling
Unit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9296" y="4198193"/>
            <a:ext cx="1545336" cy="61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2x2 Max / Avg
/ Bypass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" y="4919472"/>
            <a:ext cx="11731752" cy="2286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56032" y="4974336"/>
            <a:ext cx="3657600" cy="86868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5029200"/>
            <a:ext cx="351129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A8D4"/>
                </a:solidFill>
                <a:latin typeface="Calibri"/>
              </a:rPr>
              <a:t>AXI4-Stream 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" y="5460796"/>
            <a:ext cx="3511296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Output Result Stream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41648" y="4974336"/>
            <a:ext cx="2743200" cy="868680"/>
          </a:xfrm>
          <a:prstGeom prst="roundRect">
            <a:avLst/>
          </a:prstGeom>
          <a:solidFill>
            <a:srgbClr val="E6F1FF"/>
          </a:solidFill>
          <a:ln w="1905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5029200"/>
            <a:ext cx="259689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73AB7"/>
                </a:solidFill>
                <a:latin typeface="Calibri"/>
              </a:rPr>
              <a:t>Interrupt Controller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5460796"/>
            <a:ext cx="2596896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Done flag to 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12864" y="4974336"/>
            <a:ext cx="5074920" cy="868680"/>
          </a:xfrm>
          <a:prstGeom prst="roundRect">
            <a:avLst/>
          </a:prstGeom>
          <a:solidFill>
            <a:srgbClr val="E5F6EE"/>
          </a:solidFill>
          <a:ln w="1905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86016" y="5029200"/>
            <a:ext cx="492861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8F55"/>
                </a:solidFill>
                <a:latin typeface="Calibri"/>
              </a:rPr>
              <a:t>Python Result Handler (PS)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6016" y="5460796"/>
            <a:ext cx="4928616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26282"/>
                </a:solidFill>
                <a:latin typeface="Calibri"/>
              </a:rPr>
              <a:t>DMA recv + prediction callback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D4"/>
                </a:solidFill>
                <a:latin typeface="Calibri"/>
              </a:rPr>
              <a:t>Slide 7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CF0"/>
                </a:solidFill>
                <a:latin typeface="Calibri"/>
              </a:rPr>
              <a:t>SAVEETHA ENGINEERING COLLEGE  |  Dept. of ECE  |  19EC702 - Project Work 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74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7C1F"/>
                </a:solidFill>
                <a:latin typeface="Calibri"/>
              </a:rPr>
              <a:t>7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71600"/>
            <a:ext cx="512064" cy="493776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463040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389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A8"/>
                </a:solidFill>
                <a:latin typeface="Calibri"/>
              </a:rPr>
              <a:t>H. Kung &amp; C. Leiserson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61848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"Systolic Arrays for VLSI"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14996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Sparse Matrix Proc., 1978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1993392"/>
            <a:ext cx="512064" cy="493776"/>
          </a:xfrm>
          <a:prstGeom prst="round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084832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C1F"/>
                </a:solidFill>
                <a:latin typeface="Calibri"/>
              </a:rPr>
              <a:t>B. Jacob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24028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"Quantization and Training of Neural Networks for Efficient Integer-Arithmetic-Only Inference"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1214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CVPR 2018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2615184"/>
            <a:ext cx="512064" cy="493776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2706624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633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8F55"/>
                </a:solidFill>
                <a:latin typeface="Calibri"/>
              </a:rPr>
              <a:t>N. P. Jouppi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86207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"In-Datacenter Performance Analysis of a Tensor Processing Unit"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743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ISCA 2017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" y="3236976"/>
            <a:ext cx="512064" cy="493776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3328416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2552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75C"/>
                </a:solidFill>
                <a:latin typeface="Calibri"/>
              </a:rPr>
              <a:t>K. He et 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83864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"Deep Residual Learning for Image Recognition"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3364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CVPR 2016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" y="3858768"/>
            <a:ext cx="512064" cy="493776"/>
          </a:xfrm>
          <a:prstGeom prst="round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950208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8770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D4"/>
                </a:solidFill>
                <a:latin typeface="Calibri"/>
              </a:rPr>
              <a:t>A. G. Howard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10565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"MobileNets: Efficient Convolutional Neural Networks for Mobile Vision"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39867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arXiv:1704.04861, 2017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" y="4480560"/>
            <a:ext cx="512064" cy="493776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4572000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[6]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4498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A8"/>
                </a:solidFill>
                <a:latin typeface="Calibri"/>
              </a:rPr>
              <a:t>Xilinx / AMD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72744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PYNQ-Z2 Reference Manual &amp; Zynq-7020 Technical Reference Manual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46085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UG585, 2023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" y="5102352"/>
            <a:ext cx="512064" cy="493776"/>
          </a:xfrm>
          <a:prstGeom prst="roundRect">
            <a:avLst/>
          </a:prstGeom>
          <a:solidFill>
            <a:srgbClr val="F4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5193792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[7]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5120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C1F"/>
                </a:solidFill>
                <a:latin typeface="Calibri"/>
              </a:rPr>
              <a:t>ARM Ltd.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34924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AMBA AXI4 and ACE Protocol Specification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5230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IHI0022H, 2022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" y="5724144"/>
            <a:ext cx="512064" cy="493776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" y="5815584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[8]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8F55"/>
                </a:solidFill>
                <a:latin typeface="Calibri"/>
              </a:rPr>
              <a:t>Y. Chen et 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" y="597103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A35"/>
                </a:solidFill>
                <a:latin typeface="Calibri"/>
              </a:rPr>
              <a:t>"Eyeriss: A Spatial Architecture for Energy-Efficient Dataflow for CNNs"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5852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6282"/>
                </a:solidFill>
                <a:latin typeface="Calibri"/>
              </a:rPr>
              <a:t>ISCA 2016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