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2042648" cy="171907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" y="1700784"/>
            <a:ext cx="12042648" cy="64008"/>
          </a:xfrm>
          <a:prstGeom prst="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 panose="020F0502020204030204"/>
              </a:rPr>
              <a:t>SAVEETHA ENGINEERING COLLEGE</a:t>
            </a:r>
            <a:endParaRPr sz="2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6766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D8EE"/>
                </a:solidFill>
                <a:latin typeface="Calibri" panose="020F0502020204030204"/>
              </a:rPr>
              <a:t>Department of Electronics &amp; Communication Engineering  |  Affiliated to Anna University | Approved by AICTE</a:t>
            </a:r>
            <a:endParaRPr sz="115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00A8D4"/>
                </a:solidFill>
                <a:latin typeface="Calibri" panose="020F0502020204030204"/>
              </a:rPr>
              <a:t>19EC702  -  Project Work Phase I   |   Zeroth Project Review</a:t>
            </a:r>
            <a:endParaRPr sz="1250" b="0" i="1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1920240"/>
            <a:ext cx="11521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B275C"/>
                </a:solidFill>
                <a:latin typeface="Calibri Light" panose="020F0302020204030204"/>
              </a:rPr>
              <a:t>TinyNPU</a:t>
            </a:r>
            <a:endParaRPr sz="5800" b="1" i="0">
              <a:solidFill>
                <a:srgbClr val="0B275C"/>
              </a:solidFill>
              <a:latin typeface="Calibri Light" panose="020F03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3017520"/>
            <a:ext cx="8897112" cy="41148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90672"/>
            <a:ext cx="1152144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900" b="0" i="1">
                <a:solidFill>
                  <a:srgbClr val="005CA8"/>
                </a:solidFill>
                <a:latin typeface="Calibri" panose="020F0502020204030204"/>
              </a:rPr>
              <a:t>TinyNPU: A Sensor-Driven Low-Latency AI Accelerator for Ballistic Vision</a:t>
            </a:r>
            <a:endParaRPr lang="en-US" altLang="en-US" sz="1900" b="0" i="1">
              <a:solidFill>
                <a:srgbClr val="005CA8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3822191"/>
            <a:ext cx="3246120" cy="932688"/>
          </a:xfrm>
          <a:prstGeom prst="round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7705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Platform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4187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PYNQ-Z2  (Zynq-7020)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4840" y="3822191"/>
            <a:ext cx="3246120" cy="932688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7705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Domain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0" y="4187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AI Hardware  /  VLSI Design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55279" y="3822191"/>
            <a:ext cx="3246120" cy="932688"/>
          </a:xfrm>
          <a:prstGeom prst="round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87705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Frontend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4187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Python  PYNQ API  +  DMA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502920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06080"/>
                </a:solidFill>
                <a:latin typeface="Calibri" panose="020F0502020204030204"/>
              </a:rPr>
              <a:t>Review Date: 05 August 2026   |   Time: 1:00 PM - 3:00 PM</a:t>
            </a:r>
            <a:endParaRPr sz="1300" b="0" i="0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53949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6080"/>
                </a:solidFill>
                <a:latin typeface="Calibri" panose="020F0502020204030204"/>
              </a:rPr>
              <a:t>Panel: Dr. Srigitha S. Nath, Dr. M. Selvi, Dr. S. Praveen Kumar &amp; team</a:t>
            </a:r>
            <a:endParaRPr sz="1200" b="0" i="0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6304" y="6565392"/>
            <a:ext cx="12042648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74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E"/>
                </a:solidFill>
                <a:latin typeface="Calibri" panose="020F0502020204030204"/>
              </a:rPr>
              <a:t>SAVEETHA ENGINEERING COLLEGE  |  Dept. of ECE  |  19EC702 - Project Work Phase I</a:t>
            </a:r>
            <a:endParaRPr sz="90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21440" y="65745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27618"/>
                </a:solidFill>
                <a:latin typeface="Calibri" panose="020F0502020204030204"/>
              </a:rPr>
              <a:t>1 / 7</a:t>
            </a:r>
            <a:endParaRPr sz="900" b="1" i="0">
              <a:solidFill>
                <a:srgbClr val="F2761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43584"/>
            <a:ext cx="12188952" cy="5943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 panose="020F0302020204030204"/>
              </a:rPr>
              <a:t>Problem Identification &amp; Relevance</a:t>
            </a:r>
            <a:endParaRPr sz="30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877824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D4"/>
                </a:solidFill>
                <a:latin typeface="Calibri" panose="020F0502020204030204"/>
              </a:rPr>
              <a:t>Slide 2 of 7</a:t>
            </a:r>
            <a:endParaRPr sz="1200" b="0" i="1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E"/>
                </a:solidFill>
                <a:latin typeface="Calibri" panose="020F0502020204030204"/>
              </a:rPr>
              <a:t>SAVEETHA ENGINEERING COLLEGE  |  Dept. of ECE  |  19EC702 - Project Work Phase I</a:t>
            </a:r>
            <a:endParaRPr sz="90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1440" y="65745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27618"/>
                </a:solidFill>
                <a:latin typeface="Calibri" panose="020F0502020204030204"/>
              </a:rPr>
              <a:t>2 / 7</a:t>
            </a:r>
            <a:endParaRPr sz="9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6032" y="1371600"/>
            <a:ext cx="5596128" cy="2468880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71600"/>
            <a:ext cx="5596128" cy="420624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  The Core Problem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1865376"/>
            <a:ext cx="53766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Standard pipelines relay raw pixels to CPU/GPU over PCIe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PCIe bottleneck + OS scheduling = 5 to 50 ms latency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Ballistic threats travel &gt; 300 m/s  -  every ms matters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Total sensor-to-decision budget: under 500 microseconds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6032" y="3986784"/>
            <a:ext cx="5596128" cy="2395728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986784"/>
            <a:ext cx="5596128" cy="420624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376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  Why Standard Solutions Fail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480560"/>
            <a:ext cx="5376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GPU: High throughput but non-deterministic latency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CPU: Too slow for real-time CNN inference on live frames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Edge MCUs: Insufficient compute for multi-layer CNN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Cloud NPU/TPU: PCIe or network bandwidth still required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89320" y="1371600"/>
            <a:ext cx="5943600" cy="2468880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371600"/>
            <a:ext cx="5943600" cy="420624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1426464"/>
            <a:ext cx="5724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  Real-World Relevance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9048" y="1865376"/>
            <a:ext cx="572414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Aerospace: Intercept micro-projectiles in under 1 ms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Automotive: Sub-1 ms collision hazard detection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Industrial: High-speed conveyor sorting at 100+ fps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Defense: Counter-drone and ballistic tracking systems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89320" y="3986784"/>
            <a:ext cx="5943600" cy="2395728"/>
          </a:xfrm>
          <a:prstGeom prst="roundRect">
            <a:avLst/>
          </a:prstGeom>
          <a:solidFill>
            <a:srgbClr val="FDEFE2"/>
          </a:solidFill>
          <a:ln w="254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986784"/>
            <a:ext cx="5943600" cy="420624"/>
          </a:xfrm>
          <a:prstGeom prst="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4041648"/>
            <a:ext cx="5724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  TinyNPU Proposed Solution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9048" y="4480560"/>
            <a:ext cx="5724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Near-sensor coprocessor on PYNQ-Z2 (Zynq-7020) board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Python PYNQ API feeds sensor data via AXI4-Stream DMA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8x8 Weight-Stationary Systolic Array: 64 MACs per cycle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Target: single-digit microsecond end-to-end latency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43584"/>
            <a:ext cx="12188952" cy="5943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 panose="020F0302020204030204"/>
              </a:rPr>
              <a:t>Objectives &amp; Expected Outcomes</a:t>
            </a:r>
            <a:endParaRPr sz="30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877824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D4"/>
                </a:solidFill>
                <a:latin typeface="Calibri" panose="020F0502020204030204"/>
              </a:rPr>
              <a:t>Slide 3 of 7</a:t>
            </a:r>
            <a:endParaRPr sz="1200" b="0" i="1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E"/>
                </a:solidFill>
                <a:latin typeface="Calibri" panose="020F0502020204030204"/>
              </a:rPr>
              <a:t>SAVEETHA ENGINEERING COLLEGE  |  Dept. of ECE  |  19EC702 - Project Work Phase I</a:t>
            </a:r>
            <a:endParaRPr sz="90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1440" y="65745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27618"/>
                </a:solidFill>
                <a:latin typeface="Calibri" panose="020F0502020204030204"/>
              </a:rPr>
              <a:t>3 / 7</a:t>
            </a:r>
            <a:endParaRPr sz="9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6032" y="1389888"/>
            <a:ext cx="5687568" cy="20299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89888"/>
            <a:ext cx="914400" cy="2029968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66543"/>
            <a:ext cx="8778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O1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" y="1499616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CA8"/>
                </a:solidFill>
                <a:latin typeface="Calibri" panose="020F0502020204030204"/>
              </a:rPr>
              <a:t>Ultra-Low Latency</a:t>
            </a:r>
            <a:endParaRPr sz="1600" b="1" i="0">
              <a:solidFill>
                <a:srgbClr val="005CA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70432" y="2029967"/>
            <a:ext cx="4663440" cy="22860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084832"/>
            <a:ext cx="4572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A35"/>
                </a:solidFill>
                <a:latin typeface="Calibri" panose="020F0502020204030204"/>
              </a:rPr>
              <a:t>Achieve single-digit microsecond inference
latency for Conv and FC layers on PYNQ-Z2</a:t>
            </a:r>
            <a:endParaRPr sz="135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1389888"/>
            <a:ext cx="5687568" cy="20299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89888"/>
            <a:ext cx="914400" cy="202996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2066543"/>
            <a:ext cx="8778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O2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42048" y="1499616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75C"/>
                </a:solidFill>
                <a:latin typeface="Calibri" panose="020F0502020204030204"/>
              </a:rPr>
              <a:t>Deterministic Execution</a:t>
            </a:r>
            <a:endParaRPr sz="1600" b="1" i="0">
              <a:solidFill>
                <a:srgbClr val="0B275C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32320" y="2029967"/>
            <a:ext cx="4663440" cy="22860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2084832"/>
            <a:ext cx="4572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A35"/>
                </a:solidFill>
                <a:latin typeface="Calibri" panose="020F0502020204030204"/>
              </a:rPr>
              <a:t>No caches or branch predictors - strict
cycle-level timing on the FPGA fabric</a:t>
            </a:r>
            <a:endParaRPr sz="135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6032" y="3602736"/>
            <a:ext cx="5687568" cy="20299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602736"/>
            <a:ext cx="914400" cy="2029968"/>
          </a:xfrm>
          <a:prstGeom prst="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279392"/>
            <a:ext cx="8778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O3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0160" y="3712463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7618"/>
                </a:solidFill>
                <a:latin typeface="Calibri" panose="020F0502020204030204"/>
              </a:rPr>
              <a:t>Resource Efficiency</a:t>
            </a:r>
            <a:endParaRPr sz="16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70432" y="4242816"/>
            <a:ext cx="4663440" cy="22860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297680"/>
            <a:ext cx="4572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A35"/>
                </a:solidFill>
                <a:latin typeface="Calibri" panose="020F0502020204030204"/>
              </a:rPr>
              <a:t>Maximize Zynq-7020 DSP48E1 blocks and
BRAM utilization within tight resource budget</a:t>
            </a:r>
            <a:endParaRPr sz="135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17920" y="3602736"/>
            <a:ext cx="5687568" cy="202996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602736"/>
            <a:ext cx="914400" cy="2029968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4279392"/>
            <a:ext cx="8778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O4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42048" y="3712463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8F55"/>
                </a:solidFill>
                <a:latin typeface="Calibri" panose="020F0502020204030204"/>
              </a:rPr>
              <a:t>ASIC Migration Readiness</a:t>
            </a:r>
            <a:endParaRPr sz="1600" b="1" i="0">
              <a:solidFill>
                <a:srgbClr val="148F55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32320" y="4242816"/>
            <a:ext cx="4663440" cy="22860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4297680"/>
            <a:ext cx="45720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A35"/>
                </a:solidFill>
                <a:latin typeface="Calibri" panose="020F0502020204030204"/>
              </a:rPr>
              <a:t>100% vendor-neutral synthesizable Verilog
RTL - portable to any silicon process node</a:t>
            </a:r>
            <a:endParaRPr sz="135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56032" y="5431536"/>
            <a:ext cx="11676888" cy="365760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54589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EXPECTED OUTCOMES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56032" y="5870448"/>
            <a:ext cx="2194560" cy="603504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5943600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25.6 GOPS @ 200 MHz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587752" y="5870448"/>
            <a:ext cx="2194560" cy="603504"/>
          </a:xfrm>
          <a:prstGeom prst="round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5943600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&lt; 10 us inference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919472" y="5870448"/>
            <a:ext cx="2194560" cy="603504"/>
          </a:xfrm>
          <a:prstGeom prst="round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912" y="5943600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INT8 / INT32 pipeline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251192" y="5870448"/>
            <a:ext cx="2194560" cy="603504"/>
          </a:xfrm>
          <a:prstGeom prst="round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1" y="5943600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AXI4 standard interfaces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582911" y="5870448"/>
            <a:ext cx="2194560" cy="603504"/>
          </a:xfrm>
          <a:prstGeom prst="round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74351" y="5943600"/>
            <a:ext cx="2029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Python + FPGA integrated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43584"/>
            <a:ext cx="12188952" cy="5943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 panose="020F0302020204030204"/>
              </a:rPr>
              <a:t>Proposed Methodology  -  TinyNPU Data Pipeline</a:t>
            </a:r>
            <a:endParaRPr sz="30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877824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D4"/>
                </a:solidFill>
                <a:latin typeface="Calibri" panose="020F0502020204030204"/>
              </a:rPr>
              <a:t>Slide 5 of 7</a:t>
            </a:r>
            <a:endParaRPr sz="1200" b="0" i="1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E"/>
                </a:solidFill>
                <a:latin typeface="Calibri" panose="020F0502020204030204"/>
              </a:rPr>
              <a:t>SAVEETHA ENGINEERING COLLEGE  |  Dept. of ECE  |  19EC702 - Project Work Phase I</a:t>
            </a:r>
            <a:endParaRPr sz="90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1440" y="65745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27618"/>
                </a:solidFill>
                <a:latin typeface="Calibri" panose="020F0502020204030204"/>
              </a:rPr>
              <a:t>5 / 7</a:t>
            </a:r>
            <a:endParaRPr sz="9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6032" y="1426464"/>
            <a:ext cx="1956816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426464"/>
            <a:ext cx="1956816" cy="621792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46304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0896" y="2084832"/>
            <a:ext cx="1847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8F55"/>
                </a:solidFill>
                <a:latin typeface="Calibri" panose="020F0502020204030204"/>
              </a:rPr>
              <a:t>Camera
Sensor</a:t>
            </a:r>
            <a:endParaRPr sz="1400" b="1" i="0">
              <a:solidFill>
                <a:srgbClr val="148F55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0896" y="2688336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06080"/>
                </a:solidFill>
                <a:latin typeface="Calibri" panose="020F0502020204030204"/>
              </a:rPr>
              <a:t>USB UVC
via OpenCV</a:t>
            </a:r>
            <a:endParaRPr sz="1150" b="0" i="1">
              <a:solidFill>
                <a:srgbClr val="506080"/>
              </a:solidFill>
              <a:latin typeface="Calibri" panose="020F050202020403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212848" y="2249424"/>
            <a:ext cx="365760" cy="0"/>
          </a:xfrm>
          <a:prstGeom prst="line">
            <a:avLst/>
          </a:prstGeom>
          <a:ln w="38100">
            <a:solidFill>
              <a:srgbClr val="148F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31136" y="19751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48F55"/>
                </a:solidFill>
                <a:latin typeface="Calibri" panose="020F0502020204030204"/>
              </a:rPr>
              <a:t>Pixel Data</a:t>
            </a:r>
            <a:endParaRPr sz="900" b="0" i="1">
              <a:solidFill>
                <a:srgbClr val="148F55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78608" y="1426464"/>
            <a:ext cx="1956816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608" y="1426464"/>
            <a:ext cx="1956816" cy="621792"/>
          </a:xfrm>
          <a:prstGeom prst="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46304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33472" y="2084832"/>
            <a:ext cx="1847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27618"/>
                </a:solidFill>
                <a:latin typeface="Calibri" panose="020F0502020204030204"/>
              </a:rPr>
              <a:t>PYNQ
Frontend</a:t>
            </a:r>
            <a:endParaRPr sz="14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33472" y="2688336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06080"/>
                </a:solidFill>
                <a:latin typeface="Calibri" panose="020F0502020204030204"/>
              </a:rPr>
              <a:t>Overlay + DMA
INT8 Quantise</a:t>
            </a:r>
            <a:endParaRPr sz="1150" b="0" i="1">
              <a:solidFill>
                <a:srgbClr val="506080"/>
              </a:solidFill>
              <a:latin typeface="Calibri" panose="020F050202020403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535424" y="2249424"/>
            <a:ext cx="365760" cy="0"/>
          </a:xfrm>
          <a:prstGeom prst="line">
            <a:avLst/>
          </a:prstGeom>
          <a:ln w="38100">
            <a:solidFill>
              <a:srgbClr val="F2761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53712" y="19751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27618"/>
                </a:solidFill>
                <a:latin typeface="Calibri" panose="020F0502020204030204"/>
              </a:rPr>
              <a:t>INT8 Buffer</a:t>
            </a:r>
            <a:endParaRPr sz="900" b="0" i="1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901184" y="1426464"/>
            <a:ext cx="1956816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1426464"/>
            <a:ext cx="1956816" cy="62179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146304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56048" y="2084832"/>
            <a:ext cx="1847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75C"/>
                </a:solidFill>
                <a:latin typeface="Calibri" panose="020F0502020204030204"/>
              </a:rPr>
              <a:t>TinyNPU
Core</a:t>
            </a:r>
            <a:endParaRPr sz="1400" b="1" i="0">
              <a:solidFill>
                <a:srgbClr val="0B275C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56048" y="2688336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06080"/>
                </a:solidFill>
                <a:latin typeface="Calibri" panose="020F0502020204030204"/>
              </a:rPr>
              <a:t>8x8 Systolic
64 MACs/cycle</a:t>
            </a:r>
            <a:endParaRPr sz="1150" b="0" i="1">
              <a:solidFill>
                <a:srgbClr val="506080"/>
              </a:solidFill>
              <a:latin typeface="Calibri" panose="020F0502020204030204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858000" y="2249424"/>
            <a:ext cx="365760" cy="0"/>
          </a:xfrm>
          <a:prstGeom prst="line">
            <a:avLst/>
          </a:prstGeom>
          <a:ln w="38100">
            <a:solidFill>
              <a:srgbClr val="0B275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76288" y="19751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B275C"/>
                </a:solidFill>
                <a:latin typeface="Calibri" panose="020F0502020204030204"/>
              </a:rPr>
              <a:t>INT32 Psums</a:t>
            </a:r>
            <a:endParaRPr sz="900" b="0" i="1">
              <a:solidFill>
                <a:srgbClr val="0B275C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223760" y="1426464"/>
            <a:ext cx="1956816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1426464"/>
            <a:ext cx="1956816" cy="62179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146304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78624" y="2084832"/>
            <a:ext cx="1847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5CA8"/>
                </a:solidFill>
                <a:latin typeface="Calibri" panose="020F0502020204030204"/>
              </a:rPr>
              <a:t>Post-
Process</a:t>
            </a:r>
            <a:endParaRPr sz="1400" b="1" i="0">
              <a:solidFill>
                <a:srgbClr val="005CA8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78624" y="2688336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06080"/>
                </a:solidFill>
                <a:latin typeface="Calibri" panose="020F0502020204030204"/>
              </a:rPr>
              <a:t>Requant+ReLU
+MaxPool</a:t>
            </a:r>
            <a:endParaRPr sz="1150" b="0" i="1">
              <a:solidFill>
                <a:srgbClr val="506080"/>
              </a:solidFill>
              <a:latin typeface="Calibri" panose="020F0502020204030204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9180576" y="2249424"/>
            <a:ext cx="365760" cy="0"/>
          </a:xfrm>
          <a:prstGeom prst="line">
            <a:avLst/>
          </a:prstGeom>
          <a:ln w="38100">
            <a:solidFill>
              <a:srgbClr val="005C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98864" y="197510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5CA8"/>
                </a:solidFill>
                <a:latin typeface="Calibri" panose="020F0502020204030204"/>
              </a:rPr>
              <a:t>INT8 Activations</a:t>
            </a:r>
            <a:endParaRPr sz="900" b="0" i="1">
              <a:solidFill>
                <a:srgbClr val="005CA8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546336" y="1426464"/>
            <a:ext cx="1956816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6336" y="1426464"/>
            <a:ext cx="1956816" cy="621792"/>
          </a:xfrm>
          <a:prstGeom prst="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64624" y="146304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0" y="2084832"/>
            <a:ext cx="18470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D4"/>
                </a:solidFill>
                <a:latin typeface="Calibri" panose="020F0502020204030204"/>
              </a:rPr>
              <a:t>Result
Output</a:t>
            </a:r>
            <a:endParaRPr sz="1400" b="1" i="0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200" y="2688336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06080"/>
                </a:solidFill>
                <a:latin typeface="Calibri" panose="020F0502020204030204"/>
              </a:rPr>
              <a:t>AXI4-S -&gt; DMA
-&gt; Python CB</a:t>
            </a:r>
            <a:endParaRPr sz="115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56032" y="3236976"/>
            <a:ext cx="11676888" cy="365760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32735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KEY DESIGN DECISIONS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56032" y="3675887"/>
            <a:ext cx="2768346" cy="2816352"/>
          </a:xfrm>
          <a:prstGeom prst="roundRect">
            <a:avLst/>
          </a:prstGeom>
          <a:solidFill>
            <a:srgbClr val="E2F5EB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3675887"/>
            <a:ext cx="2768346" cy="438912"/>
          </a:xfrm>
          <a:prstGeom prst="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749039"/>
            <a:ext cx="254888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Weight-Stationary Dataflow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" y="4206240"/>
            <a:ext cx="254888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Filter weights stay static inside PEs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Activations stream across the 8x8 grid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Minimises weight BRAM read energy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225546" y="3675887"/>
            <a:ext cx="2768346" cy="2816352"/>
          </a:xfrm>
          <a:prstGeom prst="roundRect">
            <a:avLst/>
          </a:prstGeom>
          <a:solidFill>
            <a:srgbClr val="FDEFE2"/>
          </a:solidFill>
          <a:ln w="254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25546" y="3675887"/>
            <a:ext cx="2768346" cy="438912"/>
          </a:xfrm>
          <a:prstGeom prst="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5274" y="3749039"/>
            <a:ext cx="254888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Python PYNQ DMA Frontend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35274" y="4206240"/>
            <a:ext cx="254888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PYNQ Overlay API loads .bit to FPGA PL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allocate() gives contiguous DMA buffer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sendchannel.transfer() = zero copy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195060" y="3675887"/>
            <a:ext cx="2768346" cy="2816352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95060" y="3675887"/>
            <a:ext cx="2768346" cy="43891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4788" y="3749039"/>
            <a:ext cx="254888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Double-Buffered Memory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04788" y="4206240"/>
            <a:ext cx="254888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Ping-pong BRAMs hide weight reload latency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Sensor writes Bank A while NPU reads Bank B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Maximises systolic array throughput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164574" y="3675887"/>
            <a:ext cx="2768346" cy="2816352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64574" y="3675887"/>
            <a:ext cx="2768346" cy="43891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74301" y="3749039"/>
            <a:ext cx="254888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 panose="020F0502020204030204"/>
              </a:rPr>
              <a:t>INT8 Fixed-Point Requantisation</a:t>
            </a:r>
            <a:endParaRPr sz="13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274301" y="4206240"/>
            <a:ext cx="2548889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INT32 accum -&gt; INT8 via M0 x 2^(-n) scale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3-stage: bias add, scale multiply, ASR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  <a:p>
            <a:pPr>
              <a:spcBef>
                <a:spcPts val="800"/>
              </a:spcBef>
            </a:pPr>
            <a:r>
              <a:rPr sz="1350">
                <a:solidFill>
                  <a:srgbClr val="0F1A35"/>
                </a:solidFill>
                <a:latin typeface="Calibri" panose="020F0502020204030204"/>
              </a:rPr>
              <a:t>  Clamped to [-128, 127] at output stage</a:t>
            </a:r>
            <a:endParaRPr sz="1350">
              <a:solidFill>
                <a:srgbClr val="0F1A3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43584"/>
            <a:ext cx="12188952" cy="5943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 panose="020F0302020204030204"/>
              </a:rPr>
              <a:t>System Architecture Overview</a:t>
            </a:r>
            <a:endParaRPr sz="30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877824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D4"/>
                </a:solidFill>
                <a:latin typeface="Calibri" panose="020F0502020204030204"/>
              </a:rPr>
              <a:t>Slide 6 of 7</a:t>
            </a:r>
            <a:endParaRPr sz="1200" b="0" i="1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E"/>
                </a:solidFill>
                <a:latin typeface="Calibri" panose="020F0502020204030204"/>
              </a:rPr>
              <a:t>SAVEETHA ENGINEERING COLLEGE  |  Dept. of ECE  |  19EC702 - Project Work Phase I</a:t>
            </a:r>
            <a:endParaRPr sz="90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1440" y="65745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27618"/>
                </a:solidFill>
                <a:latin typeface="Calibri" panose="020F0502020204030204"/>
              </a:rPr>
              <a:t>6 / 7</a:t>
            </a:r>
            <a:endParaRPr sz="9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6032" y="1371600"/>
            <a:ext cx="2560320" cy="1042415"/>
          </a:xfrm>
          <a:prstGeom prst="roundRect">
            <a:avLst/>
          </a:prstGeom>
          <a:solidFill>
            <a:srgbClr val="E2F5EB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463040"/>
            <a:ext cx="2377439" cy="58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Python PYNQ
Frontend (PS)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" y="1976201"/>
            <a:ext cx="2377439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Overlay + DMA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44368" y="1371600"/>
            <a:ext cx="2743200" cy="1042415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463040"/>
            <a:ext cx="2560320" cy="58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AXI4-Lite Slave
(CSR File)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35808" y="1976201"/>
            <a:ext cx="256032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Config &amp; Control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15584" y="1371600"/>
            <a:ext cx="2377440" cy="1042415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1463040"/>
            <a:ext cx="2194560" cy="58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AXI4-Stream
Sink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07024" y="1976201"/>
            <a:ext cx="219456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Activation Input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21040" y="1371600"/>
            <a:ext cx="2011680" cy="1042415"/>
          </a:xfrm>
          <a:prstGeom prst="roundRect">
            <a:avLst/>
          </a:prstGeom>
          <a:solidFill>
            <a:srgbClr val="FDEFE2"/>
          </a:solidFill>
          <a:ln w="254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463040"/>
            <a:ext cx="1828800" cy="58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DMA Controller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1976201"/>
            <a:ext cx="182880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Weight Prefetch
(AXI4 Master)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460736" y="1371600"/>
            <a:ext cx="1481328" cy="1042415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52176" y="1463040"/>
            <a:ext cx="1298448" cy="58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NPU Controller
FSM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52176" y="1976201"/>
            <a:ext cx="1298448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Load-&gt;Compute-&gt;Drain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6032" y="2523744"/>
            <a:ext cx="11676888" cy="27432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6032" y="2578608"/>
            <a:ext cx="2926080" cy="969264"/>
          </a:xfrm>
          <a:prstGeom prst="roundRect">
            <a:avLst/>
          </a:prstGeom>
          <a:solidFill>
            <a:srgbClr val="E2F5EB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670048"/>
            <a:ext cx="2743200" cy="54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Activation Buffer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472" y="3140781"/>
            <a:ext cx="2743200" cy="38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256x64
Ping-Pong BRAM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310128" y="2578608"/>
            <a:ext cx="2798064" cy="969264"/>
          </a:xfrm>
          <a:prstGeom prst="roundRect">
            <a:avLst/>
          </a:prstGeom>
          <a:solidFill>
            <a:srgbClr val="E2F5EB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1568" y="2670048"/>
            <a:ext cx="2615184" cy="54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Weight Buffer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401568" y="3140781"/>
            <a:ext cx="2615184" cy="38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1024x64
Dual-Port BRAM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36208" y="2578608"/>
            <a:ext cx="2286000" cy="969264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670048"/>
            <a:ext cx="2103120" cy="54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DW Line Buffer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27648" y="3140781"/>
            <a:ext cx="2103120" cy="38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3x3 Depthwise
Conv Engine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50224" y="2578608"/>
            <a:ext cx="3291840" cy="969264"/>
          </a:xfrm>
          <a:prstGeom prst="roundRect">
            <a:avLst/>
          </a:prstGeom>
          <a:solidFill>
            <a:srgbClr val="FDEFE2"/>
          </a:solidFill>
          <a:ln w="254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1664" y="2670048"/>
            <a:ext cx="3108960" cy="54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Output Buffer
(FIFO)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41664" y="3140781"/>
            <a:ext cx="3108960" cy="38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Decouples NPU
from host BW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56032" y="3657600"/>
            <a:ext cx="11676888" cy="27432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6032" y="3712463"/>
            <a:ext cx="5925312" cy="1298448"/>
          </a:xfrm>
          <a:prstGeom prst="roundRect">
            <a:avLst/>
          </a:prstGeom>
          <a:solidFill>
            <a:srgbClr val="E4EFFF"/>
          </a:solidFill>
          <a:ln w="38100">
            <a:solidFill>
              <a:srgbClr val="0B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3803903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75C"/>
                </a:solidFill>
                <a:latin typeface="Calibri" panose="020F0502020204030204"/>
              </a:rPr>
              <a:t>8x8 Systolic Array  -  MAC Grid</a:t>
            </a:r>
            <a:endParaRPr sz="1400" b="1" i="0">
              <a:solidFill>
                <a:srgbClr val="0B275C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4048" y="427939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6080"/>
                </a:solidFill>
                <a:latin typeface="Calibri" panose="020F0502020204030204"/>
              </a:rPr>
              <a:t>64 Processing Elements   |   INT8 x INT8 Multiply-Accumulate   |   INT32 partial sums</a:t>
            </a:r>
            <a:endParaRPr sz="1200" b="0" i="0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84048" y="459028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06080"/>
                </a:solidFill>
                <a:latin typeface="Calibri" panose="020F0502020204030204"/>
              </a:rPr>
              <a:t>Weight-Stationary dataflow   |   Skewed activation input   |   64 DSP48E1 blocks</a:t>
            </a:r>
            <a:endParaRPr sz="1200" b="0" i="0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309360" y="3712463"/>
            <a:ext cx="1874519" cy="1298448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05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803903"/>
            <a:ext cx="1691639" cy="72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Requantisation
Unit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0" y="4465563"/>
            <a:ext cx="1691639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Bias+M0 Scale
+ASR+Clamp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302752" y="3712463"/>
            <a:ext cx="1874519" cy="1298448"/>
          </a:xfrm>
          <a:prstGeom prst="roundRect">
            <a:avLst/>
          </a:prstGeom>
          <a:solidFill>
            <a:srgbClr val="FDEFE2"/>
          </a:solidFill>
          <a:ln w="254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4192" y="3803903"/>
            <a:ext cx="1691639" cy="72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Activation
Unit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94192" y="4465563"/>
            <a:ext cx="1691639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ReLU / Bypass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296144" y="3712463"/>
            <a:ext cx="1645920" cy="1298448"/>
          </a:xfrm>
          <a:prstGeom prst="roundRect">
            <a:avLst/>
          </a:prstGeom>
          <a:solidFill>
            <a:srgbClr val="FDEFE2"/>
          </a:solidFill>
          <a:ln w="25400">
            <a:solidFill>
              <a:srgbClr val="F276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87584" y="3803903"/>
            <a:ext cx="1463040" cy="72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Pooling
Unit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87584" y="4465563"/>
            <a:ext cx="1463040" cy="519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2x2 Max / Avg
/ Bypass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56032" y="5120640"/>
            <a:ext cx="11676888" cy="27432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56032" y="5175504"/>
            <a:ext cx="3657600" cy="914400"/>
          </a:xfrm>
          <a:prstGeom prst="roundRect">
            <a:avLst/>
          </a:prstGeom>
          <a:solidFill>
            <a:srgbClr val="E4EFFF"/>
          </a:solidFill>
          <a:ln w="25400">
            <a:solidFill>
              <a:srgbClr val="00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5266944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AXI4-Stream Source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7472" y="57058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Output Result Stream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041648" y="5175504"/>
            <a:ext cx="2651760" cy="914400"/>
          </a:xfrm>
          <a:prstGeom prst="roundRect">
            <a:avLst/>
          </a:prstGeom>
          <a:solidFill>
            <a:srgbClr val="F0EBFF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33087" y="5266944"/>
            <a:ext cx="24688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Interrupt Controller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133087" y="570585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Done flag to PS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821424" y="5175504"/>
            <a:ext cx="5120640" cy="914400"/>
          </a:xfrm>
          <a:prstGeom prst="roundRect">
            <a:avLst/>
          </a:prstGeom>
          <a:solidFill>
            <a:srgbClr val="E2F5EB"/>
          </a:solidFill>
          <a:ln w="25400">
            <a:solidFill>
              <a:srgbClr val="148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12864" y="5266944"/>
            <a:ext cx="49377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F1A35"/>
                </a:solidFill>
                <a:latin typeface="Calibri" panose="020F0502020204030204"/>
              </a:rPr>
              <a:t>Python Result Handler (PS)</a:t>
            </a:r>
            <a:endParaRPr sz="1250" b="1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12864" y="570585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DMA recv + prediction callback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43584"/>
            <a:ext cx="12188952" cy="59436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 panose="020F0302020204030204"/>
              </a:rPr>
              <a:t>References</a:t>
            </a:r>
            <a:endParaRPr sz="3000" b="1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877824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8D4"/>
                </a:solidFill>
                <a:latin typeface="Calibri" panose="020F0502020204030204"/>
              </a:rPr>
              <a:t>Slide 7 of 7</a:t>
            </a:r>
            <a:endParaRPr sz="1200" b="0" i="1">
              <a:solidFill>
                <a:srgbClr val="00A8D4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7453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E"/>
                </a:solidFill>
                <a:latin typeface="Calibri" panose="020F0502020204030204"/>
              </a:rPr>
              <a:t>SAVEETHA ENGINEERING COLLEGE  |  Dept. of ECE  |  19EC702 - Project Work Phase I</a:t>
            </a:r>
            <a:endParaRPr sz="900" b="0" i="0">
              <a:solidFill>
                <a:srgbClr val="CCD8E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1440" y="65745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27618"/>
                </a:solidFill>
                <a:latin typeface="Calibri" panose="020F0502020204030204"/>
              </a:rPr>
              <a:t>7 / 7</a:t>
            </a:r>
            <a:endParaRPr sz="9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6032" y="1389888"/>
            <a:ext cx="530352" cy="512064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48132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[1]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" y="1417320"/>
            <a:ext cx="23774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200" b="1" i="0">
                <a:solidFill>
                  <a:srgbClr val="005CA8"/>
                </a:solidFill>
                <a:latin typeface="Calibri" panose="020F0502020204030204"/>
              </a:rPr>
              <a:t>ARSLAN MUNIR</a:t>
            </a:r>
            <a:endParaRPr lang="en-US" altLang="en-US" sz="1200" b="1" i="0">
              <a:solidFill>
                <a:srgbClr val="005CA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7824" y="1664208"/>
            <a:ext cx="8229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200" b="0" i="0">
                <a:solidFill>
                  <a:srgbClr val="0F1A35"/>
                </a:solidFill>
                <a:latin typeface="Calibri" panose="020F0502020204030204"/>
              </a:rPr>
              <a:t>CPU-Accelerator Co-Scheduling for CNN Acceleration at the Edge</a:t>
            </a:r>
            <a:endParaRPr lang="en-US" altLang="en-US"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17152" y="1536192"/>
            <a:ext cx="28346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" y="2029967"/>
            <a:ext cx="530352" cy="512064"/>
          </a:xfrm>
          <a:prstGeom prst="round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12140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[2]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" y="20573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7618"/>
                </a:solidFill>
                <a:latin typeface="Calibri" panose="020F0502020204030204"/>
              </a:rPr>
              <a:t>B. Jacob et al.</a:t>
            </a:r>
            <a:endParaRPr sz="12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" y="230428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35"/>
                </a:solidFill>
                <a:latin typeface="Calibri" panose="020F0502020204030204"/>
              </a:rPr>
              <a:t>"Quantization and Training of NNs for Efficient Integer-Only Inference"</a:t>
            </a:r>
            <a:endParaRPr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17152" y="2176272"/>
            <a:ext cx="28346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1">
                <a:solidFill>
                  <a:srgbClr val="506080"/>
                </a:solidFill>
                <a:latin typeface="Calibri" panose="020F0502020204030204"/>
              </a:rPr>
              <a:t>ieee2020</a:t>
            </a:r>
            <a:endParaRPr lang="en-US"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6032" y="2670048"/>
            <a:ext cx="530352" cy="512064"/>
          </a:xfrm>
          <a:prstGeom prst="round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276148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[3]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7824" y="2697479"/>
            <a:ext cx="23774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200" b="1" i="0">
                <a:solidFill>
                  <a:srgbClr val="148F55"/>
                </a:solidFill>
                <a:latin typeface="Calibri" panose="020F0502020204030204"/>
              </a:rPr>
              <a:t>Dharun Kanna N</a:t>
            </a:r>
            <a:endParaRPr lang="en-US" altLang="en-US" sz="1200" b="1" i="0">
              <a:solidFill>
                <a:srgbClr val="148F55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7824" y="2944368"/>
            <a:ext cx="82296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200" b="0" i="0">
                <a:solidFill>
                  <a:srgbClr val="0F1A35"/>
                </a:solidFill>
                <a:latin typeface="Calibri" panose="020F0502020204030204"/>
              </a:rPr>
              <a:t>CNN Accelerator For Edge Inference </a:t>
            </a:r>
            <a:endParaRPr lang="en-US" altLang="en-US"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17152" y="2816352"/>
            <a:ext cx="28346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1100" b="0" i="1">
                <a:solidFill>
                  <a:srgbClr val="506080"/>
                </a:solidFill>
                <a:latin typeface="Calibri" panose="020F0502020204030204"/>
              </a:rPr>
              <a:t>ICNGCS 2025</a:t>
            </a:r>
            <a:endParaRPr lang="en-US" altLang="en-US"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56032" y="3310127"/>
            <a:ext cx="530352" cy="512064"/>
          </a:xfrm>
          <a:prstGeom prst="roundRect">
            <a:avLst/>
          </a:prstGeom>
          <a:solidFill>
            <a:srgbClr val="0B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340156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[4]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" y="3337559"/>
            <a:ext cx="23774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r>
              <a:rPr sz="1200" b="1" i="0">
                <a:solidFill>
                  <a:srgbClr val="0B275C"/>
                </a:solidFill>
                <a:latin typeface="Calibri" panose="020F0502020204030204"/>
              </a:rPr>
              <a:t>K. He et al.</a:t>
            </a:r>
            <a:endParaRPr sz="1200" b="1" i="0">
              <a:solidFill>
                <a:srgbClr val="0B275C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7824" y="358444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35"/>
                </a:solidFill>
                <a:latin typeface="Calibri" panose="020F0502020204030204"/>
              </a:rPr>
              <a:t>"Deep Residual Learning for Image Recognition"</a:t>
            </a:r>
            <a:endParaRPr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17152" y="34564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CVPR 2016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56032" y="3950208"/>
            <a:ext cx="530352" cy="512064"/>
          </a:xfrm>
          <a:prstGeom prst="roundRect">
            <a:avLst/>
          </a:prstGeom>
          <a:solidFill>
            <a:srgbClr val="00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404164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[5]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56032" y="4590288"/>
            <a:ext cx="530352" cy="512064"/>
          </a:xfrm>
          <a:prstGeom prst="round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4681727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[6]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7824" y="4617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CA8"/>
                </a:solidFill>
                <a:latin typeface="Calibri" panose="020F0502020204030204"/>
              </a:rPr>
              <a:t>Xilinx / AMD</a:t>
            </a:r>
            <a:endParaRPr sz="1200" b="1" i="0">
              <a:solidFill>
                <a:srgbClr val="005CA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" y="486460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35"/>
                </a:solidFill>
                <a:latin typeface="Calibri" panose="020F0502020204030204"/>
              </a:rPr>
              <a:t>PYNQ-Z2 Reference Manual + Zynq-7020 Technical Reference Manual</a:t>
            </a:r>
            <a:endParaRPr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17152" y="47365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UG585, 2023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56032" y="5230367"/>
            <a:ext cx="530352" cy="512064"/>
          </a:xfrm>
          <a:prstGeom prst="roundRect">
            <a:avLst/>
          </a:prstGeom>
          <a:solidFill>
            <a:srgbClr val="F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5321807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[7]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" y="5257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7618"/>
                </a:solidFill>
                <a:latin typeface="Calibri" panose="020F0502020204030204"/>
              </a:rPr>
              <a:t>ARM Ltd.</a:t>
            </a:r>
            <a:endParaRPr sz="1200" b="1" i="0">
              <a:solidFill>
                <a:srgbClr val="F27618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77824" y="550468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35"/>
                </a:solidFill>
                <a:latin typeface="Calibri" panose="020F0502020204030204"/>
              </a:rPr>
              <a:t>AMBA AXI4 and ACE Protocol Specification</a:t>
            </a:r>
            <a:endParaRPr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17152" y="5376671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IHI0022H, 2022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56032" y="5870448"/>
            <a:ext cx="530352" cy="512064"/>
          </a:xfrm>
          <a:prstGeom prst="roundRect">
            <a:avLst/>
          </a:prstGeom>
          <a:solidFill>
            <a:srgbClr val="148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" y="596188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[8]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7824" y="5897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8F55"/>
                </a:solidFill>
                <a:latin typeface="Calibri" panose="020F0502020204030204"/>
              </a:rPr>
              <a:t>Y. Chen et al.</a:t>
            </a:r>
            <a:endParaRPr sz="1200" b="1" i="0">
              <a:solidFill>
                <a:srgbClr val="148F55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7824" y="61447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A35"/>
                </a:solidFill>
                <a:latin typeface="Calibri" panose="020F0502020204030204"/>
              </a:rPr>
              <a:t>"Eyeriss: A Spatial Architecture for Energy-Efficient Dataflow for CNNs"</a:t>
            </a:r>
            <a:endParaRPr sz="1200" b="0" i="0">
              <a:solidFill>
                <a:srgbClr val="0F1A35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17152" y="6016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506080"/>
                </a:solidFill>
                <a:latin typeface="Calibri" panose="020F0502020204030204"/>
              </a:rPr>
              <a:t>ISCA 2016</a:t>
            </a:r>
            <a:endParaRPr sz="1100" b="0" i="1">
              <a:solidFill>
                <a:srgbClr val="50608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4905</Words>
  <Application>WPS Presentation</Application>
  <PresentationFormat>On-screen Show (4:3)</PresentationFormat>
  <Paragraphs>320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harih</cp:lastModifiedBy>
  <cp:revision>4</cp:revision>
  <dcterms:created xsi:type="dcterms:W3CDTF">2013-01-27T09:14:00Z</dcterms:created>
  <dcterms:modified xsi:type="dcterms:W3CDTF">2026-08-05T09:25:27Z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E8F4D46314484FBFB596819B3C1AF624_12</vt:lpwstr>
  </property>
</Properties>
</file>