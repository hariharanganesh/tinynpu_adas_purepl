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274320"/>
            <a:ext cx="12051792" cy="9144"/>
          </a:xfrm>
          <a:prstGeom prst="rect">
            <a:avLst/>
          </a:prstGeom>
          <a:solidFill>
            <a:srgbClr val="1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05840"/>
            <a:ext cx="12051792" cy="9144"/>
          </a:xfrm>
          <a:prstGeom prst="rect">
            <a:avLst/>
          </a:prstGeom>
          <a:solidFill>
            <a:srgbClr val="1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737360"/>
            <a:ext cx="12051792" cy="9144"/>
          </a:xfrm>
          <a:prstGeom prst="rect">
            <a:avLst/>
          </a:prstGeom>
          <a:solidFill>
            <a:srgbClr val="1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2468880"/>
            <a:ext cx="12051792" cy="9144"/>
          </a:xfrm>
          <a:prstGeom prst="rect">
            <a:avLst/>
          </a:prstGeom>
          <a:solidFill>
            <a:srgbClr val="1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200400"/>
            <a:ext cx="12051792" cy="9144"/>
          </a:xfrm>
          <a:prstGeom prst="rect">
            <a:avLst/>
          </a:prstGeom>
          <a:solidFill>
            <a:srgbClr val="1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" y="3931920"/>
            <a:ext cx="12051792" cy="9144"/>
          </a:xfrm>
          <a:prstGeom prst="rect">
            <a:avLst/>
          </a:prstGeom>
          <a:solidFill>
            <a:srgbClr val="1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" y="4663440"/>
            <a:ext cx="12051792" cy="9144"/>
          </a:xfrm>
          <a:prstGeom prst="rect">
            <a:avLst/>
          </a:prstGeom>
          <a:solidFill>
            <a:srgbClr val="1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" y="5394960"/>
            <a:ext cx="12051792" cy="9144"/>
          </a:xfrm>
          <a:prstGeom prst="rect">
            <a:avLst/>
          </a:prstGeom>
          <a:solidFill>
            <a:srgbClr val="1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6126480"/>
            <a:ext cx="12051792" cy="9144"/>
          </a:xfrm>
          <a:prstGeom prst="rect">
            <a:avLst/>
          </a:prstGeom>
          <a:solidFill>
            <a:srgbClr val="1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" y="6858000"/>
            <a:ext cx="12051792" cy="9144"/>
          </a:xfrm>
          <a:prstGeom prst="rect">
            <a:avLst/>
          </a:prstGeom>
          <a:solidFill>
            <a:srgbClr val="1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3716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01220"/>
                </a:solidFill>
                <a:latin typeface="Calibri"/>
              </a:rPr>
              <a:t>NPU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097280"/>
            <a:ext cx="2377440" cy="365760"/>
          </a:xfrm>
          <a:prstGeom prst="rect">
            <a:avLst/>
          </a:prstGeom>
          <a:solidFill>
            <a:srgbClr val="0A223A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115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FF"/>
                </a:solidFill>
                <a:latin typeface="Calibri"/>
              </a:rPr>
              <a:t>FINAL YEAR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6916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FFFFFF"/>
                </a:solidFill>
                <a:latin typeface="Calibri"/>
              </a:rPr>
              <a:t>TinyNPU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E5FF"/>
                </a:solidFill>
                <a:latin typeface="Calibri"/>
              </a:rPr>
              <a:t>An ASIC-Ready INT8 Systolic AI Accelerator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C0"/>
                </a:solidFill>
                <a:latin typeface="Calibri"/>
              </a:rPr>
              <a:t>Deterministic Edge Inference  ·  Pure Hardware Architecture  ·  Zero ARM Dependencies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11247120" cy="1097280"/>
          </a:xfrm>
          <a:prstGeom prst="rect">
            <a:avLst/>
          </a:prstGeom>
          <a:solidFill>
            <a:srgbClr val="080A1A"/>
          </a:solidFill>
          <a:ln w="1016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117 mW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On-Chip Power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4983480"/>
            <a:ext cx="18288" cy="731520"/>
          </a:xfrm>
          <a:prstGeom prst="rect">
            <a:avLst/>
          </a:prstGeom>
          <a:solidFill>
            <a:srgbClr val="30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195 MHz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Achieved fMAX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983480"/>
            <a:ext cx="18288" cy="731520"/>
          </a:xfrm>
          <a:prstGeom prst="rect">
            <a:avLst/>
          </a:prstGeom>
          <a:solidFill>
            <a:srgbClr val="30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ASIC Readiness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4983480"/>
            <a:ext cx="18288" cy="731520"/>
          </a:xfrm>
          <a:prstGeom prst="rect">
            <a:avLst/>
          </a:prstGeom>
          <a:solidFill>
            <a:srgbClr val="30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Verilog-2001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RTL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Identification &amp;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C0"/>
                </a:solidFill>
                <a:latin typeface="Calibri"/>
              </a:rPr>
              <a:t>Why does edge AI demand a purpose-built hardware accelerator?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2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94960" cy="5029200"/>
          </a:xfrm>
          <a:prstGeom prst="rect">
            <a:avLst/>
          </a:prstGeom>
          <a:solidFill>
            <a:srgbClr val="101222"/>
          </a:solidFill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Calibri"/>
              </a:rPr>
              <a:t>⚠  The Technical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CCCCE0"/>
                </a:solidFill>
                <a:latin typeface="Calibri"/>
              </a:rPr>
              <a:t>▸  GPU-class devices draw excessive power, causing thermal throttling under sustained high-FPS inference workloads — incompatible with strict SWaP constraints.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CCCE0"/>
                </a:solidFill>
                <a:latin typeface="Calibri"/>
              </a:rPr>
              <a:t>▸  Hybrid FPGA/SoC platforms offload control to ARM+Linux, introducing OS jitter and non-deterministic interrupt latency into real-time inference pipelines.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CCCE0"/>
                </a:solidFill>
                <a:latin typeface="Calibri"/>
              </a:rPr>
              <a:t>▸  Most academic NPU IP cores are heavily software-assisted, making them impossible to port directly to silicon for an ASIC tapeout without significant redesign.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94960" cy="5029200"/>
          </a:xfrm>
          <a:prstGeom prst="rect">
            <a:avLst/>
          </a:prstGeom>
          <a:solidFill>
            <a:srgbClr val="101222"/>
          </a:solidFill>
          <a:ln w="12700">
            <a:solidFill>
              <a:srgbClr val="00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Calibri"/>
              </a:rPr>
              <a:t>✦  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CCCCE0"/>
                </a:solidFill>
                <a:latin typeface="Calibri"/>
              </a:rPr>
              <a:t>▸  SWaP Constraints — Mission-critical edge platforms (drones, autonomous sensors) impose hard limits on Size, Weight, and Power. Heatsinks are not an option.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CCCE0"/>
                </a:solidFill>
                <a:latin typeface="Calibri"/>
              </a:rPr>
              <a:t>▸  Determinism — Any OS interrupt or bus contention can cause a missed detection frame in high-speed visual tracking applications.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CCCE0"/>
                </a:solidFill>
                <a:latin typeface="Calibri"/>
              </a:rPr>
              <a:t>▸  ASIC Scalability — A strictly pure-RTL architecture can be migrated directly from an FPGA prototype to a 7nm foundry tape-out with zero architectural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Objectives &amp; 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C0"/>
                </a:solidFill>
                <a:latin typeface="Calibri"/>
              </a:rPr>
              <a:t>Technical goals and measurable success criteria for this project.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2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669280" cy="219456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03055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Systolic Array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0"/>
                </a:solidFill>
                <a:latin typeface="Calibri"/>
              </a:rPr>
              <a:t>Design an 8×8 Weight-Stationary Systolic Array optimized for INT8 quantized multiply-accumulate operations with 2-stage pipelining.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5669280" cy="219456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03055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Processor-Less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0"/>
                </a:solidFill>
                <a:latin typeface="Calibri"/>
              </a:rPr>
              <a:t>Eliminate ALL CPU/ARM overhead by building a complete, self-sufficient verification chain entirely in pure RTL hardware logic.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669280" cy="219456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8619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03055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3191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Power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59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0"/>
                </a:solidFill>
                <a:latin typeface="Calibri"/>
              </a:rPr>
              <a:t>Apply Integrated Clock Gating (ICG) across all clock domains via Vivado's power_opt_design engine to minimize dynamic switching power.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749039"/>
            <a:ext cx="5669280" cy="219456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8619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03055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93191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Silicon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80559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0"/>
                </a:solidFill>
                <a:latin typeface="Calibri"/>
              </a:rPr>
              <a:t>Flash the compiled bitstream directly to FPGA and confirm functional pass/fail using dedicated hardware scoreboards and physical board LEDs.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Proposed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C0"/>
                </a:solidFill>
                <a:latin typeface="Calibri"/>
              </a:rPr>
              <a:t>A four-phase rigorous ASIC physical design and verification 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2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743200" cy="438912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743200" cy="50292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Calibri"/>
              </a:rPr>
              <a:t>RTL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0"/>
                </a:solidFill>
                <a:latin typeface="Calibri"/>
              </a:rPr>
              <a:t>2-stage MAC pipeline, multi-stage requantization units. Verilog-2001 strict compliance.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743200" cy="438912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743200" cy="50292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Calibri"/>
              </a:rPr>
              <a:t>HW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69748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0"/>
                </a:solidFill>
                <a:latin typeface="Calibri"/>
              </a:rPr>
              <a:t>Pure hardware BRAM Sensor Emulator replaces ARM processor. AXI-Stream data path.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2743200" cy="438912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2743200" cy="50292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03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Calibri"/>
              </a:rPr>
              <a:t>Power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9748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0"/>
                </a:solidFill>
                <a:latin typeface="Calibri"/>
              </a:rPr>
              <a:t>power_opt_design infers ICG cells. BRAM EN-pin gating. ExploreWithRemap strategy.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417320"/>
            <a:ext cx="2743200" cy="438912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417320"/>
            <a:ext cx="2743200" cy="50292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103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Calibri"/>
              </a:rPr>
              <a:t>On-Silicon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69748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0"/>
                </a:solidFill>
                <a:latin typeface="Calibri"/>
              </a:rPr>
              <a:t>Bitstream flashed to PYNQ-Z2. Physical button triggers emulator. LED PASS/FAIL output.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7FF"/>
                </a:solidFill>
                <a:latin typeface="Calibri"/>
              </a:rPr>
              <a:t>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7FF"/>
                </a:solidFill>
                <a:latin typeface="Calibri"/>
              </a:rPr>
              <a:t>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7FF"/>
                </a:solidFill>
                <a:latin typeface="Calibri"/>
              </a:rPr>
              <a:t>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 —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C0"/>
                </a:solidFill>
                <a:latin typeface="Calibri"/>
              </a:rPr>
              <a:t>Option A: Processor-less execution. Full AXI-Stream data path in pure RTL.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2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3291840"/>
          </a:xfrm>
          <a:prstGeom prst="rect">
            <a:avLst/>
          </a:prstGeom>
          <a:solidFill>
            <a:srgbClr val="080A1A"/>
          </a:solidFill>
          <a:ln w="1016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645920" cy="1188720"/>
          </a:xfrm>
          <a:prstGeom prst="rect">
            <a:avLst/>
          </a:prstGeom>
          <a:solidFill>
            <a:srgbClr val="152540"/>
          </a:solidFill>
          <a:ln w="10160">
            <a:solidFill>
              <a:srgbClr val="3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BRAM
Emulator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Sensor Input
Hex Image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691640"/>
            <a:ext cx="1645920" cy="1188720"/>
          </a:xfrm>
          <a:prstGeom prst="rect">
            <a:avLst/>
          </a:prstGeom>
          <a:solidFill>
            <a:srgbClr val="152540"/>
          </a:solidFill>
          <a:ln w="10160">
            <a:solidFill>
              <a:srgbClr val="3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AXI-Stream
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32-bit TDATA
TVALID / TREADY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600200"/>
            <a:ext cx="2011680" cy="1371600"/>
          </a:xfrm>
          <a:prstGeom prst="rect">
            <a:avLst/>
          </a:prstGeom>
          <a:solidFill>
            <a:srgbClr val="0077FF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Systolic Array
8×8 PE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INT8 MAC
2-Stage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691640"/>
            <a:ext cx="1645920" cy="1188720"/>
          </a:xfrm>
          <a:prstGeom prst="rect">
            <a:avLst/>
          </a:prstGeom>
          <a:solidFill>
            <a:srgbClr val="152540"/>
          </a:solidFill>
          <a:ln w="10160">
            <a:solidFill>
              <a:srgbClr val="3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Requant
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4-Stage Pipe
INT32→INT8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1691640"/>
            <a:ext cx="1645920" cy="1188720"/>
          </a:xfrm>
          <a:prstGeom prst="rect">
            <a:avLst/>
          </a:prstGeom>
          <a:solidFill>
            <a:srgbClr val="152540"/>
          </a:solidFill>
          <a:ln w="10160">
            <a:solidFill>
              <a:srgbClr val="3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HW
Scoreboard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Golden Ref
PASS / 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Input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12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Hardcoded hex vectors simulate MIPI CSI-2 camera feed at full 125 MHz clock speed.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Compute 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212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Weight-stationary dataflow maximises data reuse, minimizing expensive SRAM read cycles.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Output 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212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Real-time compare logic drives physical board LEDs for instant Pass/Fail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Physical Verification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C0"/>
                </a:solidFill>
                <a:latin typeface="Calibri"/>
              </a:rPr>
              <a:t>Post-route implementation metrics — Xilinx Zynq xc7z020 silicon (Vivado 2025.1)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2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566160" cy="347472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E5FF"/>
                </a:solidFill>
                <a:latin typeface="Calibri"/>
              </a:rPr>
              <a:t>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A0C0"/>
                </a:solidFill>
                <a:latin typeface="Calibri"/>
              </a:rPr>
              <a:t>mW Total On-Chip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DYNAMIC 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Ice-cold operation. Zero thermal throttling. No heatsink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566160" cy="3474720"/>
          </a:xfrm>
          <a:prstGeom prst="rect">
            <a:avLst/>
          </a:prstGeom>
          <a:solidFill>
            <a:srgbClr val="1012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8745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E5FF"/>
                </a:solidFill>
                <a:latin typeface="Calibri"/>
              </a:rPr>
              <a:t>195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A0C0"/>
                </a:solidFill>
                <a:latin typeface="Calibri"/>
              </a:rPr>
              <a:t>MHz Max Frequency (fMAX)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154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TIMING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20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Target: 100 MHz. Achieved: 195 MHz. WNS = -0.120 ns @ 200 MHz.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3566160" cy="347472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8745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E5FF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788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A0C0"/>
                </a:solidFill>
                <a:latin typeface="Calibri"/>
              </a:rPr>
              <a:t>Synthesis Errors | 0 Latches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154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ASIC RTL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520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Verilog-2001 strict. No combinational loops. No software dependencies.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11247120" cy="1417320"/>
          </a:xfrm>
          <a:prstGeom prst="rect">
            <a:avLst/>
          </a:prstGeom>
          <a:solidFill>
            <a:srgbClr val="080A1A"/>
          </a:solidFill>
          <a:ln w="1016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0C0"/>
                </a:solidFill>
                <a:latin typeface="Calibri"/>
              </a:rPr>
              <a:t>SYNTHESIS RESOURCE UTILIZATION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DSP48 Cells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394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607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FF Registers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5394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775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LUT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199" y="5394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199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BRAM Blocks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5394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Inferred (ICG)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Clock Gating Cells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5394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&lt; 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Route Util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Processing Speed &amp; Pipeline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C0"/>
                </a:solidFill>
                <a:latin typeface="Calibri"/>
              </a:rPr>
              <a:t>Deterministic clock-cycle accurate latency — zero OS jitter, zero software overhead.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2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651760" cy="2286000"/>
          </a:xfrm>
          <a:prstGeom prst="rect">
            <a:avLst/>
          </a:prstGeom>
          <a:solidFill>
            <a:srgbClr val="1012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E5FF"/>
                </a:solidFill>
                <a:latin typeface="Calibri"/>
              </a:rPr>
              <a:t>5.13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C0"/>
                </a:solidFill>
                <a:latin typeface="Calibri"/>
              </a:rPr>
              <a:t>ns  Clock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@ 195 MHz fMAX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651760" cy="228600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600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E5FF"/>
                </a:solidFill>
                <a:latin typeface="Calibri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C0"/>
                </a:solidFill>
                <a:latin typeface="Calibri"/>
              </a:rPr>
              <a:t>cycles  Drain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2-stage MAC + 4-stage Requant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2651760" cy="228600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600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FF8C"/>
                </a:solidFill>
                <a:latin typeface="Calibri"/>
              </a:rPr>
              <a:t>+0.033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68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C0"/>
                </a:solidFill>
                <a:latin typeface="Calibri"/>
              </a:rPr>
              <a:t>ns  Final WNS (Timing MET)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Post-route timing closure achieved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417320"/>
            <a:ext cx="2651760" cy="2286000"/>
          </a:xfrm>
          <a:prstGeom prst="rect">
            <a:avLst/>
          </a:prstGeom>
          <a:solidFill>
            <a:srgbClr val="101222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600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E5FF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468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C0"/>
                </a:solidFill>
                <a:latin typeface="Calibri"/>
              </a:rPr>
              <a:t>Routes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 failed nets. 0 node overlaps.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11247120" cy="2560320"/>
          </a:xfrm>
          <a:prstGeom prst="rect">
            <a:avLst/>
          </a:prstGeom>
          <a:solidFill>
            <a:srgbClr val="080A1A"/>
          </a:solidFill>
          <a:ln w="1016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593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0C0"/>
                </a:solidFill>
                <a:latin typeface="Calibri"/>
              </a:rPr>
              <a:t>PIPELINE STAGE LATENCY BREAKDOWN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343400"/>
            <a:ext cx="1024128" cy="777240"/>
          </a:xfrm>
          <a:prstGeom prst="rect">
            <a:avLst/>
          </a:prstGeom>
          <a:solidFill>
            <a:srgbClr val="005588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7083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AXI-Stream
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07492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1 cycle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40" y="4343400"/>
            <a:ext cx="1024128" cy="777240"/>
          </a:xfrm>
          <a:prstGeom prst="rect">
            <a:avLst/>
          </a:prstGeom>
          <a:solidFill>
            <a:srgbClr val="0066AA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437083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Activation
Buffer Write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07492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1 cycle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343400"/>
            <a:ext cx="1207008" cy="777240"/>
          </a:xfrm>
          <a:prstGeom prst="rect">
            <a:avLst/>
          </a:prstGeom>
          <a:solidFill>
            <a:srgbClr val="0077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4370832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Systolic Array
MAC Stage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074920"/>
            <a:ext cx="1207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1 cycle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4343400"/>
            <a:ext cx="1207008" cy="777240"/>
          </a:xfrm>
          <a:prstGeom prst="rect">
            <a:avLst/>
          </a:prstGeom>
          <a:solidFill>
            <a:srgbClr val="0077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9080" y="4370832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Systolic Array
MAC Stage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5074920"/>
            <a:ext cx="1207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1 cycle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49240" y="4343400"/>
            <a:ext cx="2212848" cy="777240"/>
          </a:xfrm>
          <a:prstGeom prst="rect">
            <a:avLst/>
          </a:prstGeom>
          <a:solidFill>
            <a:srgbClr val="0088CC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4370832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Requant
4-Stage Pipe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5074920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4 cycles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4343400"/>
            <a:ext cx="1024128" cy="777240"/>
          </a:xfrm>
          <a:prstGeom prst="rect">
            <a:avLst/>
          </a:prstGeom>
          <a:solidFill>
            <a:srgbClr val="004477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437083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Output
Scoreboard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507492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1 cycle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Total end-to-end pipeline latency: ~9 clock cycles  @195 MHz = ~46 ns  |  Deterministic. No OS jitter. No interrupt-driven delays.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Timing Closure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C0"/>
                </a:solidFill>
                <a:latin typeface="Calibri"/>
              </a:rPr>
              <a:t>Systematic diagnosis and resolution of setup violations — from WNS -1.285 ns to +0.033 ns PASS.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2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" y="2542032"/>
            <a:ext cx="36576" cy="91440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solidFill>
            <a:srgbClr val="0066AA"/>
          </a:solidFill>
          <a:ln>
            <a:solidFill>
              <a:srgbClr val="00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554480"/>
            <a:ext cx="1371600" cy="548640"/>
          </a:xfrm>
          <a:prstGeom prst="rect">
            <a:avLst/>
          </a:prstGeom>
          <a:solidFill>
            <a:srgbClr val="200808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  <a:latin typeface="Calibri"/>
              </a:rPr>
              <a:t>-1.285 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Initial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ROOT CAUSE: 11 LUT levels in one combinational cycle inside frame_gen.v comparison logic. Critical path too long.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659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E0"/>
                </a:solidFill>
                <a:latin typeface="Calibri"/>
              </a:rPr>
              <a:t>FIX: Pipelined the comparison into 2 register stages to break the long logic chain.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" y="3776472"/>
            <a:ext cx="36576" cy="91440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880360"/>
            <a:ext cx="502920" cy="502920"/>
          </a:xfrm>
          <a:prstGeom prst="rect">
            <a:avLst/>
          </a:prstGeom>
          <a:solidFill>
            <a:srgbClr val="0066AA"/>
          </a:solidFill>
          <a:ln>
            <a:solidFill>
              <a:srgbClr val="00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2788920"/>
            <a:ext cx="1371600" cy="548640"/>
          </a:xfrm>
          <a:prstGeom prst="rect">
            <a:avLst/>
          </a:prstGeom>
          <a:solidFill>
            <a:srgbClr val="200808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  <a:latin typeface="Calibri"/>
              </a:rPr>
              <a:t>-0.602 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70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After RTL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697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ROOT CAUSE: Routing introduced additional hold slack issues. Physical optimization had not been applied.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2004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E0"/>
                </a:solidFill>
                <a:latin typeface="Calibri"/>
              </a:rPr>
              <a:t>FIX: Ran AggressiveExplore phys_opt_design strategy to retime and restructure the placed netlist.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" y="5010912"/>
            <a:ext cx="36576" cy="91440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solidFill>
            <a:srgbClr val="0066AA"/>
          </a:solidFill>
          <a:ln>
            <a:solidFill>
              <a:srgbClr val="00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4023360"/>
            <a:ext cx="1371600" cy="548640"/>
          </a:xfrm>
          <a:prstGeom prst="rect">
            <a:avLst/>
          </a:prstGeom>
          <a:solidFill>
            <a:srgbClr val="200808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  <a:latin typeface="Calibri"/>
              </a:rPr>
              <a:t>-0.176 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005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After phys_opt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931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ROOT CAUSE: Clock domain skew discovered: u_pooling (ICG gated clock, +3.35 ns delay) drives u_threshold_filter (ungated clock).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434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E0"/>
                </a:solidFill>
                <a:latin typeface="Calibri"/>
              </a:rPr>
              <a:t>FIX: Changed threshold_filter to use clk_postproc — same domain, eliminating the inter-domain skew.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49240"/>
            <a:ext cx="502920" cy="502920"/>
          </a:xfrm>
          <a:prstGeom prst="rect">
            <a:avLst/>
          </a:prstGeom>
          <a:solidFill>
            <a:srgbClr val="00FF8C"/>
          </a:solidFill>
          <a:ln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1600" y="5257800"/>
            <a:ext cx="1371600" cy="548640"/>
          </a:xfrm>
          <a:prstGeom prst="rect">
            <a:avLst/>
          </a:prstGeom>
          <a:solidFill>
            <a:srgbClr val="002815"/>
          </a:solidFill>
          <a:ln w="127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303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F8C"/>
                </a:solidFill>
                <a:latin typeface="Calibri"/>
              </a:rPr>
              <a:t>+0.033 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239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FINAL — MET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166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ROOT CAUSE: Vivado used cached old netlist. Directly patched .gen/ipshared/bd96/src/tinynpu_top.v to force resynthesis.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6692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  <a:latin typeface="Calibri"/>
              </a:rPr>
              <a:t>FIX: Timing closure achieved. WNS positive. All 472 endpoints passing. Hold slack 0.172 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solidFill>
            <a:srgbClr val="002212"/>
          </a:solidFill>
          <a:ln w="127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428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C"/>
                </a:solidFill>
                <a:latin typeface="Calibri"/>
              </a:rPr>
              <a:t>TIMING CLOSED  |  WNS = +0.033 ns  |  TNS = 0.000 ns  |  2/472 endpoints resolved  |  Hold Slack = 0.172 ns  |  FPGA SILICON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References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C0"/>
                </a:solidFill>
                <a:latin typeface="Calibri"/>
              </a:rPr>
              <a:t>Academic grounding and planned architectural extensions.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2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101222"/>
          </a:solidFill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>[1]  Jouppi, N.P., et al. (2017). "In-Datacenter Performance Analysis of a Tensor Processing Unit." ISCA.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>[2]  Chen, Y., et al. (2016). "Eyeriss: An Energy-Efficient Reconfigurable Accelerator for Deep CNNs." IEEE JSSC.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>[3]  Du, Z., et al. (2015). "ShiDianNao: Shifting Vision Processing Closer to the Sensor." ISCA.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>[4]  Xilinx Inc. (2025). Vivado Design Suite User Guide: Power Analysis and Optimization. UG907.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>[5]  IEEE Std 1364-2001. IEEE Standard for Verilog Hardware Description Language.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394960" cy="5029200"/>
          </a:xfrm>
          <a:prstGeom prst="rect">
            <a:avLst/>
          </a:prstGeom>
          <a:solidFill>
            <a:srgbClr val="101222"/>
          </a:solidFill>
          <a:ln w="12700">
            <a:solidFill>
              <a:srgbClr val="00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>&gt; JTAG-to-AXI Video Streaming — Inject stored video frame-by-frame directly into the NPU data path via JTAG debug cable, with zero software on the chip.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>&gt; SRAM Macro Migration — Replace FPGA BRAM primitives with TSMC/GlobalFoundries standard-cell SRAM macros to prepare the design for full ASIC tapeout.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>&gt; DVFS Control Logic — Implement dynamic voltage and frequency scaling FSMs for sub-50mW idle power states during between-frame blanking intervals.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E0"/>
                </a:solidFill>
                <a:latin typeface="Calibri"/>
              </a:rPr>
              <a:t>&gt; Depthwise Separable Conv — Extend the systolic array with a DW convolution engine lane for MobileNet/YOLOv8 nano-scale layer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